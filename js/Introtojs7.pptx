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14"/>
  </p:notesMasterIdLst>
  <p:sldIdLst>
    <p:sldId id="256" r:id="rId2"/>
    <p:sldId id="257" r:id="rId3"/>
    <p:sldId id="322" r:id="rId4"/>
    <p:sldId id="323" r:id="rId5"/>
    <p:sldId id="324" r:id="rId6"/>
    <p:sldId id="430" r:id="rId7"/>
    <p:sldId id="325" r:id="rId8"/>
    <p:sldId id="286" r:id="rId9"/>
    <p:sldId id="327" r:id="rId10"/>
    <p:sldId id="329" r:id="rId11"/>
    <p:sldId id="330" r:id="rId12"/>
    <p:sldId id="326" r:id="rId13"/>
    <p:sldId id="328" r:id="rId14"/>
    <p:sldId id="331" r:id="rId15"/>
    <p:sldId id="332" r:id="rId16"/>
    <p:sldId id="333" r:id="rId17"/>
    <p:sldId id="338" r:id="rId18"/>
    <p:sldId id="337" r:id="rId19"/>
    <p:sldId id="431" r:id="rId20"/>
    <p:sldId id="336" r:id="rId21"/>
    <p:sldId id="339" r:id="rId22"/>
    <p:sldId id="335" r:id="rId23"/>
    <p:sldId id="334" r:id="rId24"/>
    <p:sldId id="340" r:id="rId25"/>
    <p:sldId id="341" r:id="rId26"/>
    <p:sldId id="342" r:id="rId27"/>
    <p:sldId id="343" r:id="rId28"/>
    <p:sldId id="293" r:id="rId29"/>
    <p:sldId id="344" r:id="rId30"/>
    <p:sldId id="345" r:id="rId31"/>
    <p:sldId id="294" r:id="rId32"/>
    <p:sldId id="346" r:id="rId33"/>
    <p:sldId id="361" r:id="rId34"/>
    <p:sldId id="358" r:id="rId35"/>
    <p:sldId id="359" r:id="rId36"/>
    <p:sldId id="432" r:id="rId37"/>
    <p:sldId id="360" r:id="rId38"/>
    <p:sldId id="362" r:id="rId39"/>
    <p:sldId id="347" r:id="rId40"/>
    <p:sldId id="348" r:id="rId41"/>
    <p:sldId id="350" r:id="rId42"/>
    <p:sldId id="351" r:id="rId43"/>
    <p:sldId id="349" r:id="rId44"/>
    <p:sldId id="433" r:id="rId45"/>
    <p:sldId id="434" r:id="rId46"/>
    <p:sldId id="352" r:id="rId47"/>
    <p:sldId id="353" r:id="rId48"/>
    <p:sldId id="298" r:id="rId49"/>
    <p:sldId id="299" r:id="rId50"/>
    <p:sldId id="300" r:id="rId51"/>
    <p:sldId id="363" r:id="rId52"/>
    <p:sldId id="364" r:id="rId53"/>
    <p:sldId id="365" r:id="rId54"/>
    <p:sldId id="366" r:id="rId55"/>
    <p:sldId id="367" r:id="rId56"/>
    <p:sldId id="368" r:id="rId57"/>
    <p:sldId id="369" r:id="rId58"/>
    <p:sldId id="376" r:id="rId59"/>
    <p:sldId id="370" r:id="rId60"/>
    <p:sldId id="371" r:id="rId61"/>
    <p:sldId id="377" r:id="rId62"/>
    <p:sldId id="372" r:id="rId63"/>
    <p:sldId id="373" r:id="rId64"/>
    <p:sldId id="305" r:id="rId65"/>
    <p:sldId id="380" r:id="rId66"/>
    <p:sldId id="381" r:id="rId67"/>
    <p:sldId id="379" r:id="rId68"/>
    <p:sldId id="401" r:id="rId69"/>
    <p:sldId id="382" r:id="rId70"/>
    <p:sldId id="383" r:id="rId71"/>
    <p:sldId id="384" r:id="rId72"/>
    <p:sldId id="385" r:id="rId73"/>
    <p:sldId id="386" r:id="rId74"/>
    <p:sldId id="387" r:id="rId75"/>
    <p:sldId id="388" r:id="rId76"/>
    <p:sldId id="389" r:id="rId77"/>
    <p:sldId id="390" r:id="rId78"/>
    <p:sldId id="398" r:id="rId79"/>
    <p:sldId id="391" r:id="rId80"/>
    <p:sldId id="392" r:id="rId81"/>
    <p:sldId id="408" r:id="rId82"/>
    <p:sldId id="406" r:id="rId83"/>
    <p:sldId id="407" r:id="rId84"/>
    <p:sldId id="402" r:id="rId85"/>
    <p:sldId id="393" r:id="rId86"/>
    <p:sldId id="395" r:id="rId87"/>
    <p:sldId id="397" r:id="rId88"/>
    <p:sldId id="396" r:id="rId89"/>
    <p:sldId id="304" r:id="rId90"/>
    <p:sldId id="307" r:id="rId91"/>
    <p:sldId id="308" r:id="rId92"/>
    <p:sldId id="306" r:id="rId93"/>
    <p:sldId id="409" r:id="rId94"/>
    <p:sldId id="410" r:id="rId95"/>
    <p:sldId id="411" r:id="rId96"/>
    <p:sldId id="412" r:id="rId97"/>
    <p:sldId id="413" r:id="rId98"/>
    <p:sldId id="414" r:id="rId99"/>
    <p:sldId id="425" r:id="rId100"/>
    <p:sldId id="419" r:id="rId101"/>
    <p:sldId id="420" r:id="rId102"/>
    <p:sldId id="421" r:id="rId103"/>
    <p:sldId id="422" r:id="rId104"/>
    <p:sldId id="424" r:id="rId105"/>
    <p:sldId id="423" r:id="rId106"/>
    <p:sldId id="427" r:id="rId107"/>
    <p:sldId id="426" r:id="rId108"/>
    <p:sldId id="428" r:id="rId109"/>
    <p:sldId id="429" r:id="rId110"/>
    <p:sldId id="418" r:id="rId111"/>
    <p:sldId id="284" r:id="rId112"/>
    <p:sldId id="285" r:id="rId1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1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-660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45701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7391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4627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8131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4694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1667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96330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9322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7278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70129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53371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74426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59930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06859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38186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77070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2123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34822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3403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87923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43021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60754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50436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41783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05581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64941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92432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53613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61390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37187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36762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84576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67354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51257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28321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71475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601283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621649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6147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79198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235641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611881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20621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4063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323325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707948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853911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5858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118304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598567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608882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015695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103233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812061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726277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91426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001855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018364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330260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69125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573725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675980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003048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482884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449632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934229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863644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301083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39952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008766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138656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238712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28409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25497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082371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864000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814259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853119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241175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602658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897542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503901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6860786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7167689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746322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4338434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8718185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2445258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8729215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798156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266765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3172306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1633870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7862980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8031813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364116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7424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121406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047635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1795348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9886363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9476343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3311694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062131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794600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533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28751"/>
            <a:ext cx="7543800" cy="1945481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429000"/>
            <a:ext cx="6461760" cy="8001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466F-BDA4-4F18-9C7B-FF0A9A1B0E80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607B-A47E-422C-9BEF-122CCDB7C526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4114800"/>
            <a:ext cx="7659687" cy="8763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889647"/>
            <a:ext cx="6135687" cy="122515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A7CB-BEE6-4F99-898E-913F06E8E125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52144"/>
            <a:ext cx="3657600" cy="34427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152144"/>
            <a:ext cx="3657600" cy="34427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300C-6FC5-4FC3-AF1A-075E4F50620D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3657600" cy="47982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365760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151335"/>
            <a:ext cx="3657600" cy="47982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1631156"/>
            <a:ext cx="365760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295D-4A77-4DEB-B04C-9F4282A8BC04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8685-4D0C-42D5-8013-B5904CD1FCBC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6C0-9885-4BA9-BBFA-A52CBFEBB775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4121658"/>
            <a:ext cx="7772400" cy="44577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4572000"/>
            <a:ext cx="7772401" cy="4572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E1B38-C5EB-4D66-9137-0AFE9CDEDE8F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285750"/>
            <a:ext cx="7772400" cy="370713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4121458"/>
            <a:ext cx="7772400" cy="445970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4572000"/>
            <a:ext cx="7772400" cy="459486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B613C-1AD7-49D3-885D-F654C5CDBAA6}" type="datetime1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4290-6522-4139-852E-05BD9E7F0D2E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1752600" cy="4388644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955F9-81EA-47C5-8059-9E5C2B437C70}" type="datetime1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6200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7620000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4114800"/>
            <a:ext cx="685800" cy="514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4236720"/>
            <a:ext cx="548640" cy="29718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882821" y="2990850"/>
            <a:ext cx="177546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56152" y="1188720"/>
            <a:ext cx="18287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327B613C-1AD7-49D3-885D-F654C5CDBAA6}" type="datetime1">
              <a:rPr lang="en-US" smtClean="0"/>
              <a:pPr/>
              <a:t>10/8/2025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5526" y="1705510"/>
            <a:ext cx="7543800" cy="1083095"/>
          </a:xfrm>
        </p:spPr>
        <p:txBody>
          <a:bodyPr/>
          <a:lstStyle/>
          <a:p>
            <a:pPr algn="ctr"/>
            <a:r>
              <a:rPr lang="en-GB" dirty="0" smtClean="0"/>
              <a:t>JAVASCRIPT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9DC813C-3AC5-4BF8-87D4-9484BCA03CF5}"/>
              </a:ext>
            </a:extLst>
          </p:cNvPr>
          <p:cNvSpPr/>
          <p:nvPr/>
        </p:nvSpPr>
        <p:spPr>
          <a:xfrm>
            <a:off x="492918" y="733991"/>
            <a:ext cx="8293895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JavaScript?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(JS) is a high-level, interpreted programming language used to make web pages interactive.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Runs directly in web browsers, allowing dynamic and responsive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both client-side (browser) and server-side (Node.js) development.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Uses of JavaScript: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 validation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(checking user input before submission).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Animations and transitions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(smooth effects for UI elements).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elements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(buttons, modals, dropdown menus, carousels).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 manipulation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(dynamically updating content without reloading the page).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 handling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(responding to user actions like clicks and keypresses).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EBCDA182-69B7-4642-AE59-73EDF0D850D9}"/>
              </a:ext>
            </a:extLst>
          </p:cNvPr>
          <p:cNvSpPr/>
          <p:nvPr/>
        </p:nvSpPr>
        <p:spPr>
          <a:xfrm>
            <a:off x="435768" y="782539"/>
            <a:ext cx="7793833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Brief History of JavaScript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by: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Brendan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Eich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1995 while working at Netscape.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Original Name: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Mocha → Later renamed to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LiveScript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Finally, JavaScript.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Standardization: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ECMAScript (ES) was introduced to standardize JavaScript.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Major Versions: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ES5 (2009):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Introduced </a:t>
            </a:r>
            <a:r>
              <a:rPr lang="en-US" sz="18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JSON.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ES6 (2015):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Introduced let, const, arrow functions, template literals,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Latest Versions (ES2023):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Include new features like async/await, optional chaining, and more.</a:t>
            </a:r>
          </a:p>
        </p:txBody>
      </p:sp>
    </p:spTree>
    <p:extLst>
      <p:ext uri="{BB962C8B-B14F-4D97-AF65-F5344CB8AC3E}">
        <p14:creationId xmlns:p14="http://schemas.microsoft.com/office/powerpoint/2010/main" val="120046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C98227F-EC42-4C84-B25B-77D98A8F45DC}"/>
              </a:ext>
            </a:extLst>
          </p:cNvPr>
          <p:cNvSpPr/>
          <p:nvPr/>
        </p:nvSpPr>
        <p:spPr>
          <a:xfrm>
            <a:off x="455312" y="768519"/>
            <a:ext cx="51427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Importance of JavaScript in Web Development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963CA897-3B8C-4A51-950B-E3C9F80B5F70}"/>
              </a:ext>
            </a:extLst>
          </p:cNvPr>
          <p:cNvSpPr/>
          <p:nvPr/>
        </p:nvSpPr>
        <p:spPr>
          <a:xfrm>
            <a:off x="541037" y="1168629"/>
            <a:ext cx="806192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JavaScript is a core technology of modern web development along with HTML and CSS.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Enhances User Experience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Enables dynamic and interactive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Client-Side Processing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Reduces server load by executing code in the browser.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Asynchronous Operations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Allows smooth loading of data without refreshing the page (AJAX, Fetch API).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Cross-Platform Compatibility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Works on all major browsers and devices.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Powerful Ecosystem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Numerous libraries and frameworks for fast development.</a:t>
            </a:r>
          </a:p>
        </p:txBody>
      </p:sp>
    </p:spTree>
    <p:extLst>
      <p:ext uri="{BB962C8B-B14F-4D97-AF65-F5344CB8AC3E}">
        <p14:creationId xmlns:p14="http://schemas.microsoft.com/office/powerpoint/2010/main" val="1912990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FC76612-D74D-4DD3-9428-C4102F9FF855}"/>
              </a:ext>
            </a:extLst>
          </p:cNvPr>
          <p:cNvSpPr/>
          <p:nvPr/>
        </p:nvSpPr>
        <p:spPr>
          <a:xfrm>
            <a:off x="496490" y="709702"/>
            <a:ext cx="8265320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Famous JavaScript Frameworks and Libraries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JavaScript has a wide range of libraries and frameworks for front-end and back-end development.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Front-End Frameworks/Libraries: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React.js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Developed by Facebook, used for building UI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Vue.js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Lightweight and easy-to-learn framework for interactive UI.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Angular.js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Developed by Google, used for large-scale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jQuery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Simplifies DOM manipulation and event handling.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Back-End Frameworks: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Node.js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Enables JavaScript to run on the server.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Express.js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A lightweight framework for building web applications with Node.js.</a:t>
            </a:r>
          </a:p>
        </p:txBody>
      </p:sp>
    </p:spTree>
    <p:extLst>
      <p:ext uri="{BB962C8B-B14F-4D97-AF65-F5344CB8AC3E}">
        <p14:creationId xmlns:p14="http://schemas.microsoft.com/office/powerpoint/2010/main" val="1501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400" dirty="0"/>
              <a:t>A </a:t>
            </a:r>
            <a:r>
              <a:rPr lang="en-GB" sz="2400" b="1" dirty="0"/>
              <a:t>simple difference</a:t>
            </a:r>
            <a:r>
              <a:rPr lang="en-GB" sz="2400" dirty="0"/>
              <a:t> between a </a:t>
            </a:r>
            <a:r>
              <a:rPr lang="en-GB" sz="2400" b="1" dirty="0"/>
              <a:t>library</a:t>
            </a:r>
            <a:r>
              <a:rPr lang="en-GB" sz="2400" dirty="0"/>
              <a:t> and a </a:t>
            </a:r>
            <a:r>
              <a:rPr lang="en-GB" sz="2400" b="1" dirty="0"/>
              <a:t>framework</a:t>
            </a:r>
            <a:r>
              <a:rPr lang="en-GB" sz="2400" dirty="0"/>
              <a:t> is:</a:t>
            </a:r>
            <a:br>
              <a:rPr lang="en-GB" sz="2400" dirty="0"/>
            </a:b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133053" cy="3347807"/>
          </a:xfrm>
        </p:spPr>
        <p:txBody>
          <a:bodyPr>
            <a:normAutofit lnSpcReduction="10000"/>
          </a:bodyPr>
          <a:lstStyle/>
          <a:p>
            <a:r>
              <a:rPr lang="en-GB" b="1" dirty="0" smtClean="0"/>
              <a:t>Library</a:t>
            </a:r>
            <a:r>
              <a:rPr lang="en-GB" dirty="0" smtClean="0"/>
              <a:t> </a:t>
            </a:r>
            <a:r>
              <a:rPr lang="en-GB" dirty="0"/>
              <a:t>→ You call it.</a:t>
            </a:r>
          </a:p>
          <a:p>
            <a:pPr lvl="1"/>
            <a:r>
              <a:rPr lang="en-GB" dirty="0"/>
              <a:t>It’s a collection of functions/tools you use when you need them.</a:t>
            </a:r>
          </a:p>
          <a:p>
            <a:pPr lvl="1"/>
            <a:r>
              <a:rPr lang="en-GB" dirty="0"/>
              <a:t>Example: React (you decide when and how to use its components).</a:t>
            </a:r>
          </a:p>
          <a:p>
            <a:r>
              <a:rPr lang="en-GB" b="1" dirty="0"/>
              <a:t>Framework</a:t>
            </a:r>
            <a:r>
              <a:rPr lang="en-GB" dirty="0"/>
              <a:t> → It calls you.</a:t>
            </a:r>
          </a:p>
          <a:p>
            <a:pPr lvl="1"/>
            <a:r>
              <a:rPr lang="en-GB" dirty="0"/>
              <a:t>It provides a structure, and your code fits into that structure.</a:t>
            </a:r>
          </a:p>
          <a:p>
            <a:pPr lvl="1"/>
            <a:r>
              <a:rPr lang="en-GB" dirty="0"/>
              <a:t>Example: Next.js (it decides how routing, rendering, etc. work, and you follow its rules).</a:t>
            </a:r>
          </a:p>
          <a:p>
            <a:r>
              <a:rPr lang="en-GB" dirty="0"/>
              <a:t>👉 In short:</a:t>
            </a:r>
            <a:br>
              <a:rPr lang="en-GB" dirty="0"/>
            </a:br>
            <a:r>
              <a:rPr lang="en-GB" b="1" dirty="0"/>
              <a:t>Library = you’re in control</a:t>
            </a:r>
            <a:r>
              <a:rPr lang="en-GB" dirty="0"/>
              <a:t>.</a:t>
            </a:r>
            <a:br>
              <a:rPr lang="en-GB" dirty="0"/>
            </a:br>
            <a:r>
              <a:rPr lang="en-GB" b="1" dirty="0"/>
              <a:t>Framework = framework is in control, you just fill in the blanks.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718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934014E0-E4C6-46D5-8D3F-5672F7064C99}"/>
              </a:ext>
            </a:extLst>
          </p:cNvPr>
          <p:cNvSpPr/>
          <p:nvPr/>
        </p:nvSpPr>
        <p:spPr>
          <a:xfrm>
            <a:off x="478265" y="748279"/>
            <a:ext cx="8287482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and the MERN Stack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MERN is a popular JavaScript-based full-stack development framework.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MongoDB (NoSQL database)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Express.js (Back-end framework)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React.js (Front-end framework)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Node.js (Server-side runtime)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MERN?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JavaScript across the stack (front-end &amp; back-end).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Faster development with reusable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Scalable and efficient for modern web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615315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17F6F43A-3742-43A5-B14F-885BCCEDE24E}"/>
              </a:ext>
            </a:extLst>
          </p:cNvPr>
          <p:cNvSpPr/>
          <p:nvPr/>
        </p:nvSpPr>
        <p:spPr>
          <a:xfrm>
            <a:off x="461489" y="749975"/>
            <a:ext cx="7696672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Setting Up JavaScript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the Browser Console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Developer Tools (F12 or Ctrl + Shift + I in Chrome).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Navigate to the Console tab.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 and execute JavaScript code directly.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console.log("Hello, World!");</a:t>
            </a:r>
          </a:p>
        </p:txBody>
      </p:sp>
    </p:spTree>
    <p:extLst>
      <p:ext uri="{BB962C8B-B14F-4D97-AF65-F5344CB8AC3E}">
        <p14:creationId xmlns:p14="http://schemas.microsoft.com/office/powerpoint/2010/main" val="572330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42FFDB6-B86C-47EE-95C6-D935204D7A87}"/>
              </a:ext>
            </a:extLst>
          </p:cNvPr>
          <p:cNvSpPr/>
          <p:nvPr/>
        </p:nvSpPr>
        <p:spPr>
          <a:xfrm>
            <a:off x="440059" y="808017"/>
            <a:ext cx="8003853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Adding JavaScript to HTML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JavaScript can be added inside an HTML file in two ways: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JavaScript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Writing JavaScript code directly inside the HTML file within a &lt;script&gt; tag.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&lt;script&gt;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console.log("Hello, JavaScript!");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617024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6EA8848-866D-4125-9D1D-09904EB03A5E}"/>
              </a:ext>
            </a:extLst>
          </p:cNvPr>
          <p:cNvSpPr/>
          <p:nvPr/>
        </p:nvSpPr>
        <p:spPr>
          <a:xfrm>
            <a:off x="457199" y="728841"/>
            <a:ext cx="7400925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JavaScript File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Writing JavaScript in a separate file and linking it using the &lt;script&gt; tag.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 File (index.html):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&lt;script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="script.js"&gt;&lt;/script&gt;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File (script.js):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console.log("Hello, JavaScript!");</a:t>
            </a:r>
          </a:p>
        </p:txBody>
      </p:sp>
    </p:spTree>
    <p:extLst>
      <p:ext uri="{BB962C8B-B14F-4D97-AF65-F5344CB8AC3E}">
        <p14:creationId xmlns:p14="http://schemas.microsoft.com/office/powerpoint/2010/main" val="27117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BA8184A-8258-4CA9-BF88-33090C41D07E}"/>
              </a:ext>
            </a:extLst>
          </p:cNvPr>
          <p:cNvSpPr/>
          <p:nvPr/>
        </p:nvSpPr>
        <p:spPr>
          <a:xfrm>
            <a:off x="428624" y="686634"/>
            <a:ext cx="7793832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Editor Setup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 Visual Studio Code (VS Code) or any code editor.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an HTML file (index.html) and a JavaScript file (script.js).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 the JavaScript file inside the HTML file before the closing &lt;/body&gt; tag for better performance.</a:t>
            </a:r>
          </a:p>
        </p:txBody>
      </p:sp>
    </p:spTree>
    <p:extLst>
      <p:ext uri="{BB962C8B-B14F-4D97-AF65-F5344CB8AC3E}">
        <p14:creationId xmlns:p14="http://schemas.microsoft.com/office/powerpoint/2010/main" val="3589178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D46D364-5FEE-4DC0-8CCC-0D9814B2DB05}"/>
              </a:ext>
            </a:extLst>
          </p:cNvPr>
          <p:cNvSpPr/>
          <p:nvPr/>
        </p:nvSpPr>
        <p:spPr>
          <a:xfrm>
            <a:off x="426987" y="780573"/>
            <a:ext cx="37850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Writing Your First JavaScript Code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28139645-4B9C-4A11-8FC9-00B837B67EE0}"/>
              </a:ext>
            </a:extLst>
          </p:cNvPr>
          <p:cNvSpPr/>
          <p:nvPr/>
        </p:nvSpPr>
        <p:spPr>
          <a:xfrm>
            <a:off x="426987" y="1155978"/>
            <a:ext cx="750257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Console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console.log() method is used for debugging and printing messages to the console.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console.log("Hello, JavaScript!");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DE9E3AB-1DAD-4A0A-8568-7CE473D73731}"/>
              </a:ext>
            </a:extLst>
          </p:cNvPr>
          <p:cNvSpPr/>
          <p:nvPr/>
        </p:nvSpPr>
        <p:spPr>
          <a:xfrm>
            <a:off x="426987" y="3005673"/>
            <a:ext cx="655960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Alert 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alert() function displays a popup message to the user.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alert("Welcome to JavaScript!");</a:t>
            </a:r>
          </a:p>
        </p:txBody>
      </p:sp>
    </p:spTree>
    <p:extLst>
      <p:ext uri="{BB962C8B-B14F-4D97-AF65-F5344CB8AC3E}">
        <p14:creationId xmlns:p14="http://schemas.microsoft.com/office/powerpoint/2010/main" val="3182153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4F91987-D7A7-408E-851D-822D95FFB3E8}"/>
              </a:ext>
            </a:extLst>
          </p:cNvPr>
          <p:cNvSpPr/>
          <p:nvPr/>
        </p:nvSpPr>
        <p:spPr>
          <a:xfrm>
            <a:off x="457199" y="838975"/>
            <a:ext cx="740092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Writing into the HTML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document.write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method writes content directly into the HTML page.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document.write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("Welcome to JavaScript!");</a:t>
            </a:r>
          </a:p>
        </p:txBody>
      </p:sp>
    </p:spTree>
    <p:extLst>
      <p:ext uri="{BB962C8B-B14F-4D97-AF65-F5344CB8AC3E}">
        <p14:creationId xmlns:p14="http://schemas.microsoft.com/office/powerpoint/2010/main" val="1181350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2D96AA9-BA84-46CE-A9CB-73645EF910C1}"/>
              </a:ext>
            </a:extLst>
          </p:cNvPr>
          <p:cNvSpPr/>
          <p:nvPr/>
        </p:nvSpPr>
        <p:spPr>
          <a:xfrm>
            <a:off x="492918" y="848201"/>
            <a:ext cx="7486650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 Task 1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JavaScript?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 you include JavaScript in an HTML file?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console.log() used for?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JavaScript script to print "Hello, JavaScript!" in the console.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an alert box in JavaScript?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script to display an alert box with the message "Welcome to JavaScript!".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 some popular JavaScript frameworks and their uses.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MERN stack?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JavaScript and PHP.</a:t>
            </a:r>
          </a:p>
        </p:txBody>
      </p:sp>
    </p:spTree>
    <p:extLst>
      <p:ext uri="{BB962C8B-B14F-4D97-AF65-F5344CB8AC3E}">
        <p14:creationId xmlns:p14="http://schemas.microsoft.com/office/powerpoint/2010/main" val="678475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2D96AA9-BA84-46CE-A9CB-73645EF910C1}"/>
              </a:ext>
            </a:extLst>
          </p:cNvPr>
          <p:cNvSpPr/>
          <p:nvPr/>
        </p:nvSpPr>
        <p:spPr>
          <a:xfrm>
            <a:off x="1347490" y="1786920"/>
            <a:ext cx="64490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No: 02</a:t>
            </a:r>
          </a:p>
        </p:txBody>
      </p:sp>
    </p:spTree>
    <p:extLst>
      <p:ext uri="{BB962C8B-B14F-4D97-AF65-F5344CB8AC3E}">
        <p14:creationId xmlns:p14="http://schemas.microsoft.com/office/powerpoint/2010/main" val="3452716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1914974A-18DE-442F-A1F7-281278B684DF}"/>
              </a:ext>
            </a:extLst>
          </p:cNvPr>
          <p:cNvSpPr/>
          <p:nvPr/>
        </p:nvSpPr>
        <p:spPr>
          <a:xfrm>
            <a:off x="455422" y="655350"/>
            <a:ext cx="38555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Variables, Data Types &amp; Operators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E5A100FE-BD89-4692-9AFF-E771583E5CBC}"/>
              </a:ext>
            </a:extLst>
          </p:cNvPr>
          <p:cNvSpPr/>
          <p:nvPr/>
        </p:nvSpPr>
        <p:spPr>
          <a:xfrm>
            <a:off x="587563" y="1060789"/>
            <a:ext cx="697766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 Variable?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variable is a container that stores data values. It allows us to store, update, and reuse values in a program.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Declaring Variables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provides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ways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declare variables: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Old method (Not recommended due to scope issues).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Preferred for variables that can change.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Preferred for variables that do not change.</a:t>
            </a:r>
          </a:p>
        </p:txBody>
      </p:sp>
    </p:spTree>
    <p:extLst>
      <p:ext uri="{BB962C8B-B14F-4D97-AF65-F5344CB8AC3E}">
        <p14:creationId xmlns:p14="http://schemas.microsoft.com/office/powerpoint/2010/main" val="234317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FE43D6A-FB4C-4023-A726-02F7FDC55BB3}"/>
              </a:ext>
            </a:extLst>
          </p:cNvPr>
          <p:cNvSpPr/>
          <p:nvPr/>
        </p:nvSpPr>
        <p:spPr>
          <a:xfrm>
            <a:off x="464342" y="694521"/>
            <a:ext cx="7827946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var name = "John";                      // Old way (avoid using)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age = 25;                                  // Preferred for changeable values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const country = "Pakistan";        // Preferred for constant values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1544576-0DD2-4A4B-ADD0-547E781DB19F}"/>
              </a:ext>
            </a:extLst>
          </p:cNvPr>
          <p:cNvSpPr/>
          <p:nvPr/>
        </p:nvSpPr>
        <p:spPr>
          <a:xfrm>
            <a:off x="464342" y="2302834"/>
            <a:ext cx="7827946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Rules for Naming Variables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contain letters, digits, underscores (_), and dollar signs ($).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Cannot start with a number.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Cannot use JavaScript reserved keywords (like var, if, else). </a:t>
            </a:r>
            <a:r>
              <a:rPr lang="en-US" sz="12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(https://www.w3schools.com/js/js_reserved.asp)</a:t>
            </a:r>
            <a:endParaRPr lang="en-US" sz="18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are case-sensitive (name and Name are different).</a:t>
            </a:r>
          </a:p>
        </p:txBody>
      </p:sp>
    </p:spTree>
    <p:extLst>
      <p:ext uri="{BB962C8B-B14F-4D97-AF65-F5344CB8AC3E}">
        <p14:creationId xmlns:p14="http://schemas.microsoft.com/office/powerpoint/2010/main" val="2695035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3E1C44E-E4DB-4E5A-87C5-0EE0E09B3F6E}"/>
              </a:ext>
            </a:extLst>
          </p:cNvPr>
          <p:cNvSpPr/>
          <p:nvPr/>
        </p:nvSpPr>
        <p:spPr>
          <a:xfrm>
            <a:off x="462386" y="695031"/>
            <a:ext cx="7722395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user1 = "Alice";          // ✅ Valid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_score = 100;              // ✅ Valid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$price = 50;                 // ✅ Valid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1user = "John";           // ❌ Invalid (Cannot start with a number)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10;                        // ❌ Invalid (Reserved keyword)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5920410C-A66A-4A3A-93D7-8B91A8A65BED}"/>
              </a:ext>
            </a:extLst>
          </p:cNvPr>
          <p:cNvSpPr/>
          <p:nvPr/>
        </p:nvSpPr>
        <p:spPr>
          <a:xfrm>
            <a:off x="462386" y="2571750"/>
            <a:ext cx="805698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“use strict”;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Treat all JS code as newer version. With strict mode, you can not, for example, use undeclared variables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7FF6A02-1B17-456D-B978-BF839D9FB2F0}"/>
              </a:ext>
            </a:extLst>
          </p:cNvPr>
          <p:cNvSpPr/>
          <p:nvPr/>
        </p:nvSpPr>
        <p:spPr>
          <a:xfrm>
            <a:off x="462386" y="3495080"/>
            <a:ext cx="595720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"use strict";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// Example of an error with "use strict"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x = 10; 	// Error: x is not defined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console.log(x);</a:t>
            </a:r>
          </a:p>
        </p:txBody>
      </p:sp>
    </p:spTree>
    <p:extLst>
      <p:ext uri="{BB962C8B-B14F-4D97-AF65-F5344CB8AC3E}">
        <p14:creationId xmlns:p14="http://schemas.microsoft.com/office/powerpoint/2010/main" val="1174457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200" dirty="0" smtClean="0"/>
              <a:t>Difference </a:t>
            </a:r>
            <a:r>
              <a:rPr lang="en-GB" sz="3200" dirty="0" err="1" smtClean="0"/>
              <a:t>bwt</a:t>
            </a:r>
            <a:r>
              <a:rPr lang="en-GB" sz="3200" dirty="0" smtClean="0"/>
              <a:t> </a:t>
            </a:r>
            <a:r>
              <a:rPr lang="en-US" sz="3200" dirty="0" smtClean="0"/>
              <a:t>Declaration </a:t>
            </a:r>
            <a:r>
              <a:rPr lang="en-US" sz="3200" dirty="0"/>
              <a:t>/ Initialization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108400" cy="3416400"/>
          </a:xfrm>
        </p:spPr>
        <p:txBody>
          <a:bodyPr/>
          <a:lstStyle/>
          <a:p>
            <a:r>
              <a:rPr lang="en-GB" sz="2000" b="1" dirty="0"/>
              <a:t>Declaration</a:t>
            </a:r>
            <a:r>
              <a:rPr lang="en-GB" sz="2000" dirty="0"/>
              <a:t> means </a:t>
            </a:r>
            <a:r>
              <a:rPr lang="en-GB" sz="2000" b="1" dirty="0"/>
              <a:t>creating a variable (giving it a name)</a:t>
            </a:r>
            <a:r>
              <a:rPr lang="en-GB" sz="2000" dirty="0"/>
              <a:t> but not assigning a value yet</a:t>
            </a:r>
            <a:r>
              <a:rPr lang="en-GB" sz="2000" dirty="0" smtClean="0"/>
              <a:t>.</a:t>
            </a:r>
          </a:p>
          <a:p>
            <a:r>
              <a:rPr lang="en-GB" sz="2000" dirty="0"/>
              <a:t>let name;   // declared, but no value</a:t>
            </a:r>
          </a:p>
          <a:p>
            <a:r>
              <a:rPr lang="en-GB" sz="2000" dirty="0" err="1"/>
              <a:t>var</a:t>
            </a:r>
            <a:r>
              <a:rPr lang="en-GB" sz="2000" dirty="0"/>
              <a:t> age;    // declared, but no value</a:t>
            </a:r>
          </a:p>
          <a:p>
            <a:r>
              <a:rPr lang="en-GB" sz="2000" dirty="0" err="1"/>
              <a:t>const</a:t>
            </a:r>
            <a:r>
              <a:rPr lang="en-GB" sz="2000" dirty="0"/>
              <a:t> city; // ❌ Error: </a:t>
            </a:r>
            <a:r>
              <a:rPr lang="en-GB" sz="2000" dirty="0" err="1"/>
              <a:t>const</a:t>
            </a:r>
            <a:r>
              <a:rPr lang="en-GB" sz="2000" dirty="0"/>
              <a:t> must be initialized </a:t>
            </a:r>
            <a:r>
              <a:rPr lang="en-GB" sz="2000" dirty="0" smtClean="0"/>
              <a:t>immediately</a:t>
            </a:r>
          </a:p>
          <a:p>
            <a:r>
              <a:rPr lang="en-GB" sz="2000" b="1" dirty="0"/>
              <a:t>Initialization</a:t>
            </a:r>
            <a:r>
              <a:rPr lang="en-GB" sz="2000" dirty="0"/>
              <a:t> means </a:t>
            </a:r>
            <a:r>
              <a:rPr lang="en-GB" sz="2000" b="1" dirty="0"/>
              <a:t>assigning a value</a:t>
            </a:r>
            <a:r>
              <a:rPr lang="en-GB" sz="2000" dirty="0"/>
              <a:t> to the variable for the first time</a:t>
            </a:r>
            <a:r>
              <a:rPr lang="en-GB" sz="2000" dirty="0" smtClean="0"/>
              <a:t>.</a:t>
            </a:r>
          </a:p>
          <a:p>
            <a:r>
              <a:rPr lang="en-GB" sz="2000" dirty="0"/>
              <a:t>let name;       // declaration</a:t>
            </a:r>
          </a:p>
          <a:p>
            <a:r>
              <a:rPr lang="en-GB" sz="2000" dirty="0"/>
              <a:t>name = "Ali";   // </a:t>
            </a:r>
            <a:r>
              <a:rPr lang="en-GB" sz="2000" dirty="0" smtClean="0"/>
              <a:t>initialization</a:t>
            </a:r>
          </a:p>
          <a:p>
            <a:r>
              <a:rPr lang="en-GB" sz="2000" dirty="0" smtClean="0"/>
              <a:t>let name = “Ali”; // declaration + initialization both in one line</a:t>
            </a:r>
            <a:endParaRPr lang="en-GB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025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C88505A-5F91-4ED7-9955-00246FA6EF9A}"/>
              </a:ext>
            </a:extLst>
          </p:cNvPr>
          <p:cNvSpPr/>
          <p:nvPr/>
        </p:nvSpPr>
        <p:spPr>
          <a:xfrm>
            <a:off x="478631" y="730865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Types in JavaScript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2F7DDA3D-E19D-4C98-B76F-172B59A8186E}"/>
              </a:ext>
            </a:extLst>
          </p:cNvPr>
          <p:cNvSpPr/>
          <p:nvPr/>
        </p:nvSpPr>
        <p:spPr>
          <a:xfrm>
            <a:off x="607219" y="1130975"/>
            <a:ext cx="8058150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800" dirty="0"/>
              <a:t>A </a:t>
            </a:r>
            <a:r>
              <a:rPr lang="en-GB" sz="1800" b="1" dirty="0"/>
              <a:t>data type</a:t>
            </a:r>
            <a:r>
              <a:rPr lang="en-GB" sz="1800" dirty="0"/>
              <a:t> tells </a:t>
            </a:r>
            <a:r>
              <a:rPr lang="en-GB" sz="1800" b="1" dirty="0"/>
              <a:t>what kind of value</a:t>
            </a:r>
            <a:r>
              <a:rPr lang="en-GB" sz="1800" dirty="0"/>
              <a:t> a variable can hold in JavaScript.</a:t>
            </a:r>
            <a:br>
              <a:rPr lang="en-GB" sz="1800" dirty="0"/>
            </a:br>
            <a:r>
              <a:rPr lang="en-GB" sz="1800" dirty="0"/>
              <a:t>Think of it like a </a:t>
            </a:r>
            <a:r>
              <a:rPr lang="en-GB" sz="1800" b="1" dirty="0"/>
              <a:t>label</a:t>
            </a:r>
            <a:r>
              <a:rPr lang="en-GB" sz="1800" dirty="0"/>
              <a:t> on a box 📦 → it tells us </a:t>
            </a:r>
            <a:r>
              <a:rPr lang="en-GB" sz="1800" i="1" dirty="0"/>
              <a:t>what kind of stuff is </a:t>
            </a:r>
            <a:r>
              <a:rPr lang="en-GB" sz="1800" i="1" dirty="0" smtClean="0"/>
              <a:t>inside</a:t>
            </a:r>
            <a:endParaRPr lang="en-GB" sz="1800" dirty="0" smtClean="0"/>
          </a:p>
          <a:p>
            <a:r>
              <a:rPr lang="en-US" sz="2000" b="1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 </a:t>
            </a:r>
            <a:r>
              <a:rPr lang="en-US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 two main types</a:t>
            </a:r>
            <a:r>
              <a:rPr lang="en-US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endParaRPr lang="en-US" sz="18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lphaUcPeriod"/>
            </a:pPr>
            <a:r>
              <a:rPr lang="en-US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Primitive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Types (Stores only a single value</a:t>
            </a:r>
            <a:r>
              <a:rPr lang="en-US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42900" indent="-342900">
              <a:buAutoNum type="alphaUcPeriod"/>
            </a:pPr>
            <a:r>
              <a:rPr lang="en-GB" sz="1800" dirty="0"/>
              <a:t>Primitive data types are </a:t>
            </a:r>
            <a:r>
              <a:rPr lang="en-GB" sz="1800" b="1" dirty="0" smtClean="0"/>
              <a:t>basic</a:t>
            </a:r>
            <a:r>
              <a:rPr lang="en-GB" sz="1800" dirty="0" smtClean="0"/>
              <a:t>.</a:t>
            </a:r>
            <a:endParaRPr lang="en-US" sz="18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/>
            </a:pPr>
            <a:r>
              <a:rPr lang="en-US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String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(Text)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greeting = "Hello, World!";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console.log(greeting); 	// Output: Hello, World!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Number (Whole numbers &amp; decimals)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age = 30;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price = 99.99;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console.log(age, price);</a:t>
            </a:r>
          </a:p>
        </p:txBody>
      </p:sp>
    </p:spTree>
    <p:extLst>
      <p:ext uri="{BB962C8B-B14F-4D97-AF65-F5344CB8AC3E}">
        <p14:creationId xmlns:p14="http://schemas.microsoft.com/office/powerpoint/2010/main" val="1703798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4657C2C4-F9B6-4AF2-9C21-81944E3615A8}"/>
              </a:ext>
            </a:extLst>
          </p:cNvPr>
          <p:cNvSpPr/>
          <p:nvPr/>
        </p:nvSpPr>
        <p:spPr>
          <a:xfrm>
            <a:off x="478631" y="725090"/>
            <a:ext cx="617219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Boolean (True or False)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isRaining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false;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isSunny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true;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isRaining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Null (Intentional absence of value, stand alone value)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car = null;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console.log(car); 		// Output: null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Undefined (Declared but no value assigned)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temperature;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console.log(temperature); 	// Output: undefined</a:t>
            </a:r>
          </a:p>
        </p:txBody>
      </p:sp>
    </p:spTree>
    <p:extLst>
      <p:ext uri="{BB962C8B-B14F-4D97-AF65-F5344CB8AC3E}">
        <p14:creationId xmlns:p14="http://schemas.microsoft.com/office/powerpoint/2010/main" val="714842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9142215D-AEDB-4CCB-8DAB-7EB3CC5B0327}"/>
              </a:ext>
            </a:extLst>
          </p:cNvPr>
          <p:cNvSpPr/>
          <p:nvPr/>
        </p:nvSpPr>
        <p:spPr>
          <a:xfrm>
            <a:off x="242887" y="176302"/>
            <a:ext cx="8158163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Non-Primitive Data Types (Stores multiple values)</a:t>
            </a:r>
          </a:p>
          <a:p>
            <a:r>
              <a:rPr lang="en-GB" sz="1800" dirty="0"/>
              <a:t>Non-primitive data types are </a:t>
            </a:r>
            <a:r>
              <a:rPr lang="en-GB" sz="1800" b="1" dirty="0"/>
              <a:t>objects</a:t>
            </a:r>
            <a:r>
              <a:rPr lang="en-GB" sz="1800" dirty="0"/>
              <a:t> (complex types</a:t>
            </a:r>
            <a:r>
              <a:rPr lang="en-GB" sz="1800" dirty="0" smtClean="0"/>
              <a:t>).</a:t>
            </a:r>
          </a:p>
          <a:p>
            <a:r>
              <a:rPr lang="en-US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Objects (Key-value pairs for data)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student =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name: "Ali",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age: 20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isEnrolled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true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console.log(student.name); 		// Output: Ali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Arrays (Ordered lists for storing data)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colors = ["red", "green", "blue"];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console.log(colors); 		// Output: ['red', 'green', 'blue']</a:t>
            </a:r>
          </a:p>
        </p:txBody>
      </p:sp>
    </p:spTree>
    <p:extLst>
      <p:ext uri="{BB962C8B-B14F-4D97-AF65-F5344CB8AC3E}">
        <p14:creationId xmlns:p14="http://schemas.microsoft.com/office/powerpoint/2010/main" val="2233451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6B09C40-3F5A-4CC2-9F9D-1826AF484932}"/>
              </a:ext>
            </a:extLst>
          </p:cNvPr>
          <p:cNvSpPr/>
          <p:nvPr/>
        </p:nvSpPr>
        <p:spPr>
          <a:xfrm>
            <a:off x="450753" y="653355"/>
            <a:ext cx="58881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 Conversion (Data Type Conversion) in JavaScript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1AA935F8-EDE2-4D0A-9DF8-066A33268BEB}"/>
              </a:ext>
            </a:extLst>
          </p:cNvPr>
          <p:cNvSpPr/>
          <p:nvPr/>
        </p:nvSpPr>
        <p:spPr>
          <a:xfrm>
            <a:off x="592930" y="1053465"/>
            <a:ext cx="7322345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the process of converting a value from one data type to another.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Implicit Conversion (Automatic by JavaScript)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console.log("5" + 5); 	// "55" (String)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console.log("10" - 2);  	// 8 (Number)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Explicit Conversion (Manual by Programmer)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String to Number Conversion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str = "123";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num = Number(str);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console.log(num); 		// 123 (Number)</a:t>
            </a:r>
          </a:p>
        </p:txBody>
      </p:sp>
    </p:spTree>
    <p:extLst>
      <p:ext uri="{BB962C8B-B14F-4D97-AF65-F5344CB8AC3E}">
        <p14:creationId xmlns:p14="http://schemas.microsoft.com/office/powerpoint/2010/main" val="2462332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6699ED3-D87B-487E-A4A1-9FB6E81181EA}"/>
              </a:ext>
            </a:extLst>
          </p:cNvPr>
          <p:cNvSpPr/>
          <p:nvPr/>
        </p:nvSpPr>
        <p:spPr>
          <a:xfrm>
            <a:off x="507205" y="692825"/>
            <a:ext cx="59436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to String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num = 456;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str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num.toString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console.log(str);		 // "456" (String)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Boolean to Number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console.log(Number(true)); 	// 1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console.log(Number(false));	 // 0</a:t>
            </a:r>
          </a:p>
        </p:txBody>
      </p:sp>
    </p:spTree>
    <p:extLst>
      <p:ext uri="{BB962C8B-B14F-4D97-AF65-F5344CB8AC3E}">
        <p14:creationId xmlns:p14="http://schemas.microsoft.com/office/powerpoint/2010/main" val="105549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F6D8230-D487-4207-BB40-5C59A52F1F42}"/>
              </a:ext>
            </a:extLst>
          </p:cNvPr>
          <p:cNvSpPr/>
          <p:nvPr/>
        </p:nvSpPr>
        <p:spPr>
          <a:xfrm>
            <a:off x="428625" y="676841"/>
            <a:ext cx="7208044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Operators in JavaScript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Operators are symbols that perform operations on variables and values.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Arithmetic Operators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a = 10, b = 5;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console.log(a + b);	 	// 15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console.log(a - b); 		// 5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console.log(a * b); 		// 50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console.log(a / b);		 // 2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console.log(a % b); 		// 0</a:t>
            </a:r>
          </a:p>
        </p:txBody>
      </p:sp>
    </p:spTree>
    <p:extLst>
      <p:ext uri="{BB962C8B-B14F-4D97-AF65-F5344CB8AC3E}">
        <p14:creationId xmlns:p14="http://schemas.microsoft.com/office/powerpoint/2010/main" val="1224822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88C5160-E043-44F8-BE20-F8DD859EACDC}"/>
              </a:ext>
            </a:extLst>
          </p:cNvPr>
          <p:cNvSpPr/>
          <p:nvPr/>
        </p:nvSpPr>
        <p:spPr>
          <a:xfrm>
            <a:off x="478632" y="725090"/>
            <a:ext cx="518636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Comparison Operators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x = 10, y = 5;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console.log(x == y); 	// false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console.log(x === y); 	// false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console.log(x !== y); 	// true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console.log(x &gt; y); 		// true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console.log(x &lt; y); 		// false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 Logical Operators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a = true, b = false;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console.log(a &amp;&amp; b); 	// false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console.log(a || b); 	// true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console.log(!a); 		// false</a:t>
            </a:r>
          </a:p>
        </p:txBody>
      </p:sp>
    </p:spTree>
    <p:extLst>
      <p:ext uri="{BB962C8B-B14F-4D97-AF65-F5344CB8AC3E}">
        <p14:creationId xmlns:p14="http://schemas.microsoft.com/office/powerpoint/2010/main" val="3464731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DA5F4856-AA91-43D8-AD73-50AD0B464ADC}"/>
              </a:ext>
            </a:extLst>
          </p:cNvPr>
          <p:cNvSpPr/>
          <p:nvPr/>
        </p:nvSpPr>
        <p:spPr>
          <a:xfrm>
            <a:off x="471486" y="644516"/>
            <a:ext cx="565070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D. Assignment Operators</a:t>
            </a:r>
          </a:p>
          <a:p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num = 10;</a:t>
            </a:r>
          </a:p>
          <a:p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pt-BR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 += </a:t>
            </a:r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5; 	// Same as num = num + 5;</a:t>
            </a:r>
          </a:p>
          <a:p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console.log(num); // 15</a:t>
            </a:r>
          </a:p>
        </p:txBody>
      </p:sp>
    </p:spTree>
    <p:extLst>
      <p:ext uri="{BB962C8B-B14F-4D97-AF65-F5344CB8AC3E}">
        <p14:creationId xmlns:p14="http://schemas.microsoft.com/office/powerpoint/2010/main" val="3684702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2DE5FEEB-6BA3-4A69-907F-A61BDB43B591}"/>
              </a:ext>
            </a:extLst>
          </p:cNvPr>
          <p:cNvSpPr/>
          <p:nvPr/>
        </p:nvSpPr>
        <p:spPr>
          <a:xfrm>
            <a:off x="485773" y="679101"/>
            <a:ext cx="7179471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 Task 2 </a:t>
            </a: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variables in JavaScript?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the rules for naming variables?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the different data types in JavaScript?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difference between == and ===?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 "10" to a number using JavaScript.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will be the output of 5 + "5"?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result of true &amp;&amp; false?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difference between null and undefined?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difference between alert, prompt and confirm?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JavaScript script(JS code) to swap two numbers.</a:t>
            </a:r>
          </a:p>
        </p:txBody>
      </p:sp>
    </p:spTree>
    <p:extLst>
      <p:ext uri="{BB962C8B-B14F-4D97-AF65-F5344CB8AC3E}">
        <p14:creationId xmlns:p14="http://schemas.microsoft.com/office/powerpoint/2010/main" val="2030469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273AFBA-86B6-49DD-B334-427CDA683A60}"/>
              </a:ext>
            </a:extLst>
          </p:cNvPr>
          <p:cNvSpPr/>
          <p:nvPr/>
        </p:nvSpPr>
        <p:spPr>
          <a:xfrm>
            <a:off x="497490" y="765158"/>
            <a:ext cx="25474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Weekly Assignment 1: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CC262A7-8AF2-4E3F-A736-FF074B70C90C}"/>
              </a:ext>
            </a:extLst>
          </p:cNvPr>
          <p:cNvSpPr/>
          <p:nvPr/>
        </p:nvSpPr>
        <p:spPr>
          <a:xfrm>
            <a:off x="690371" y="1165268"/>
            <a:ext cx="523412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1: Variable Declaration &amp;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Declare three variables: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name, age, and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isStudent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 values and print them in the console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DEE07A8-2713-43DC-AEFC-41B3E5A8D2EC}"/>
              </a:ext>
            </a:extLst>
          </p:cNvPr>
          <p:cNvSpPr/>
          <p:nvPr/>
        </p:nvSpPr>
        <p:spPr>
          <a:xfrm>
            <a:off x="690371" y="2088598"/>
            <a:ext cx="65319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2: Type Conversion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 "100" (string) to a number and "true" to a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boolean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 the results in the console.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7768080-71C1-441C-9C38-5C02F0C38E61}"/>
              </a:ext>
            </a:extLst>
          </p:cNvPr>
          <p:cNvSpPr/>
          <p:nvPr/>
        </p:nvSpPr>
        <p:spPr>
          <a:xfrm>
            <a:off x="690371" y="3011928"/>
            <a:ext cx="63488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3: Arithmetic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 two numbers as input from the user using prompt().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 addition, subtraction, multiplication, and </a:t>
            </a:r>
            <a:r>
              <a:rPr lang="en-US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division using function.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 the results using alert().</a:t>
            </a:r>
          </a:p>
        </p:txBody>
      </p:sp>
    </p:spTree>
    <p:extLst>
      <p:ext uri="{BB962C8B-B14F-4D97-AF65-F5344CB8AC3E}">
        <p14:creationId xmlns:p14="http://schemas.microsoft.com/office/powerpoint/2010/main" val="1199145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394119DE-28B5-467F-908D-5961548EF673}"/>
              </a:ext>
            </a:extLst>
          </p:cNvPr>
          <p:cNvSpPr/>
          <p:nvPr/>
        </p:nvSpPr>
        <p:spPr>
          <a:xfrm>
            <a:off x="478630" y="772537"/>
            <a:ext cx="66079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4: Null vs Undefined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Declare a variable with null and another with undefined.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 both and explain their differences in a comment.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E427ED3-5056-45AA-B4C5-0B2B36B3431A}"/>
              </a:ext>
            </a:extLst>
          </p:cNvPr>
          <p:cNvSpPr/>
          <p:nvPr/>
        </p:nvSpPr>
        <p:spPr>
          <a:xfrm>
            <a:off x="478630" y="1695867"/>
            <a:ext cx="64865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5: Logical Operators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 two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boolean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values (true or false) from the user.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 AND, OR, and NOT operations and show the results.</a:t>
            </a:r>
          </a:p>
        </p:txBody>
      </p:sp>
    </p:spTree>
    <p:extLst>
      <p:ext uri="{BB962C8B-B14F-4D97-AF65-F5344CB8AC3E}">
        <p14:creationId xmlns:p14="http://schemas.microsoft.com/office/powerpoint/2010/main" val="163714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9F492F8-B411-42D5-9691-B9F84E5C8F66}"/>
              </a:ext>
            </a:extLst>
          </p:cNvPr>
          <p:cNvSpPr/>
          <p:nvPr/>
        </p:nvSpPr>
        <p:spPr>
          <a:xfrm>
            <a:off x="1347490" y="1786920"/>
            <a:ext cx="64490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No: 03</a:t>
            </a:r>
          </a:p>
        </p:txBody>
      </p:sp>
    </p:spTree>
    <p:extLst>
      <p:ext uri="{BB962C8B-B14F-4D97-AF65-F5344CB8AC3E}">
        <p14:creationId xmlns:p14="http://schemas.microsoft.com/office/powerpoint/2010/main" val="875208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0AAF7F4-C6D7-40CA-8BB8-44CC1BA54C3A}"/>
              </a:ext>
            </a:extLst>
          </p:cNvPr>
          <p:cNvSpPr/>
          <p:nvPr/>
        </p:nvSpPr>
        <p:spPr>
          <a:xfrm>
            <a:off x="427403" y="746225"/>
            <a:ext cx="53174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Flow – Conditions &amp; Loops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BAD9E978-4E75-4E4E-8BCD-3F2ED5E59DD6}"/>
              </a:ext>
            </a:extLst>
          </p:cNvPr>
          <p:cNvSpPr/>
          <p:nvPr/>
        </p:nvSpPr>
        <p:spPr>
          <a:xfrm>
            <a:off x="555991" y="1451760"/>
            <a:ext cx="776647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Conditional Statements in JavaScript:</a:t>
            </a:r>
          </a:p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Conditional statements in JavaScript are used to make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 on conditions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If a condition is true, a specific block of code is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executed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otherwise, another block of code runs.</a:t>
            </a:r>
          </a:p>
        </p:txBody>
      </p:sp>
    </p:spTree>
    <p:extLst>
      <p:ext uri="{BB962C8B-B14F-4D97-AF65-F5344CB8AC3E}">
        <p14:creationId xmlns:p14="http://schemas.microsoft.com/office/powerpoint/2010/main" val="396254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584EC0B6-D9BC-4ACC-BABB-0B7E38CCDFB4}"/>
              </a:ext>
            </a:extLst>
          </p:cNvPr>
          <p:cNvSpPr/>
          <p:nvPr/>
        </p:nvSpPr>
        <p:spPr>
          <a:xfrm>
            <a:off x="448834" y="715951"/>
            <a:ext cx="8002222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If-Else Statement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This is the most basic conditional statement. If a condition is </a:t>
            </a:r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one block of code will execute; otherwise, </a:t>
            </a:r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another block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will execute.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age = 18;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if (age &gt;= 18) </a:t>
            </a:r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 </a:t>
            </a:r>
          </a:p>
          <a:p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console.log("You are an adult.");</a:t>
            </a:r>
          </a:p>
          <a:p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else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 </a:t>
            </a:r>
          </a:p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console.log("You are a minor.");</a:t>
            </a:r>
          </a:p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667826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CFA8EB74-4511-40B3-A92B-14F2CAE45719}"/>
              </a:ext>
            </a:extLst>
          </p:cNvPr>
          <p:cNvSpPr/>
          <p:nvPr/>
        </p:nvSpPr>
        <p:spPr>
          <a:xfrm>
            <a:off x="535781" y="651659"/>
            <a:ext cx="7493794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Else-If Ladder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The else if statement allows you to test </a:t>
            </a:r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conditions.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marks = 85;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if (marks &gt;= 90)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  </a:t>
            </a:r>
          </a:p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console.log("Grade: A+");</a:t>
            </a:r>
          </a:p>
          <a:p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else if (marks &gt;= 75) </a:t>
            </a:r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 </a:t>
            </a:r>
          </a:p>
          <a:p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console.log("Grade: A");</a:t>
            </a:r>
          </a:p>
          <a:p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else if (marks &gt;= 60) </a:t>
            </a:r>
            <a:r>
              <a:rPr lang="en-US" sz="1800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r>
              <a:rPr lang="en-US" sz="1800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console.log("Grade: B");</a:t>
            </a:r>
          </a:p>
          <a:p>
            <a:r>
              <a:rPr lang="en-US" sz="1800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else </a:t>
            </a:r>
            <a:r>
              <a:rPr lang="en-US" sz="18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  </a:t>
            </a:r>
          </a:p>
          <a:p>
            <a:r>
              <a:rPr lang="en-US" sz="18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console.log("Grade: C");</a:t>
            </a:r>
          </a:p>
          <a:p>
            <a:r>
              <a:rPr lang="en-US" sz="18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830323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3496E2A-F7A7-4341-878A-DE207401F86F}"/>
              </a:ext>
            </a:extLst>
          </p:cNvPr>
          <p:cNvSpPr/>
          <p:nvPr/>
        </p:nvSpPr>
        <p:spPr>
          <a:xfrm>
            <a:off x="485774" y="786259"/>
            <a:ext cx="7929564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Ternary Operator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The ternary operator is a shorthand way of writing an </a:t>
            </a:r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if-else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statement.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condition ?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expression_if_true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expression_if_false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age = 18;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result = (age &gt;= 18) ? "Adult" : "Minor";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console.log(result); 		// Adult</a:t>
            </a:r>
          </a:p>
        </p:txBody>
      </p:sp>
    </p:spTree>
    <p:extLst>
      <p:ext uri="{BB962C8B-B14F-4D97-AF65-F5344CB8AC3E}">
        <p14:creationId xmlns:p14="http://schemas.microsoft.com/office/powerpoint/2010/main" val="1428006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More Conditions </a:t>
            </a: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013150" cy="1505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If</a:t>
            </a:r>
          </a:p>
          <a:p>
            <a:r>
              <a:rPr lang="en-US" dirty="0" err="1" smtClean="0"/>
              <a:t>Ifelse</a:t>
            </a:r>
            <a:endParaRPr lang="en-US" dirty="0" smtClean="0"/>
          </a:p>
          <a:p>
            <a:r>
              <a:rPr lang="en-US" dirty="0" err="1" smtClean="0"/>
              <a:t>elseif</a:t>
            </a:r>
            <a:endParaRPr lang="en-US" dirty="0" smtClean="0"/>
          </a:p>
          <a:p>
            <a:r>
              <a:rPr lang="en-US" dirty="0" smtClean="0"/>
              <a:t>Switch</a:t>
            </a: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304800" y="2381250"/>
            <a:ext cx="8210550" cy="180974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85000" lnSpcReduction="20000"/>
          </a:bodyPr>
          <a:lstStyle>
            <a:lvl1pPr marL="457200" lvl="0" indent="-34290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 pitchFamily="34" charset="0"/>
              <a:buChar char="●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31750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 pitchFamily="34" charset="0"/>
              <a:buChar char="○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31750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31750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31750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 pitchFamily="34" charset="0"/>
              <a:buChar char="○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31750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 pitchFamily="34" charset="0"/>
              <a:buChar char="■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1750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 pitchFamily="34" charset="0"/>
              <a:buChar char="●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1750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 pitchFamily="34" charset="0"/>
              <a:buChar char="○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1750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Check Positive or Negative Number, </a:t>
            </a:r>
            <a:r>
              <a:rPr lang="en-GB" b="1" dirty="0" smtClean="0"/>
              <a:t>2.</a:t>
            </a:r>
            <a:r>
              <a:rPr lang="en-GB" dirty="0" smtClean="0"/>
              <a:t>Check </a:t>
            </a:r>
            <a:r>
              <a:rPr lang="en-GB" dirty="0"/>
              <a:t>if Number is Zero</a:t>
            </a:r>
            <a:endParaRPr lang="en-US" dirty="0" smtClean="0"/>
          </a:p>
          <a:p>
            <a:r>
              <a:rPr lang="en-US" dirty="0"/>
              <a:t>Check Even or Odd, </a:t>
            </a:r>
            <a:r>
              <a:rPr lang="en-US" b="1" dirty="0" smtClean="0"/>
              <a:t>4</a:t>
            </a:r>
            <a:r>
              <a:rPr lang="en-US" dirty="0" smtClean="0"/>
              <a:t>.Check </a:t>
            </a:r>
            <a:r>
              <a:rPr lang="en-US" dirty="0"/>
              <a:t>Passing Marks</a:t>
            </a:r>
            <a:endParaRPr lang="en-US" dirty="0" smtClean="0"/>
          </a:p>
          <a:p>
            <a:r>
              <a:rPr lang="en-US" dirty="0"/>
              <a:t>Check Voting Eligibility, </a:t>
            </a:r>
            <a:r>
              <a:rPr lang="en-US" b="1" dirty="0" smtClean="0"/>
              <a:t>6.</a:t>
            </a:r>
            <a:r>
              <a:rPr lang="en-US" dirty="0" smtClean="0"/>
              <a:t>Check </a:t>
            </a:r>
            <a:r>
              <a:rPr lang="en-US" dirty="0"/>
              <a:t>Age for Driving</a:t>
            </a:r>
            <a:endParaRPr lang="en-US" dirty="0" smtClean="0"/>
          </a:p>
          <a:p>
            <a:r>
              <a:rPr lang="en-US" dirty="0"/>
              <a:t>Find Greater Number, </a:t>
            </a:r>
            <a:r>
              <a:rPr lang="en-US" b="1" dirty="0" smtClean="0"/>
              <a:t>8.</a:t>
            </a:r>
            <a:r>
              <a:rPr lang="en-US" dirty="0" smtClean="0"/>
              <a:t>Smallest </a:t>
            </a:r>
            <a:r>
              <a:rPr lang="en-US" dirty="0"/>
              <a:t>of Two </a:t>
            </a:r>
            <a:r>
              <a:rPr lang="en-US" dirty="0" smtClean="0"/>
              <a:t>Numbers</a:t>
            </a:r>
          </a:p>
          <a:p>
            <a:r>
              <a:rPr lang="en-GB" sz="2000" dirty="0"/>
              <a:t>Check if Number is Divisible by 5</a:t>
            </a:r>
            <a:r>
              <a:rPr lang="en-GB" sz="2000" dirty="0" smtClean="0"/>
              <a:t>, </a:t>
            </a:r>
            <a:r>
              <a:rPr lang="en-GB" sz="2000" b="1" dirty="0" smtClean="0"/>
              <a:t>10. </a:t>
            </a:r>
            <a:r>
              <a:rPr lang="en-GB" sz="2000" dirty="0"/>
              <a:t>Check if Number is Divisible by </a:t>
            </a:r>
            <a:r>
              <a:rPr lang="en-GB" sz="2000" dirty="0" smtClean="0"/>
              <a:t>10</a:t>
            </a:r>
          </a:p>
          <a:p>
            <a:r>
              <a:rPr lang="en-GB" dirty="0"/>
              <a:t>Check if Character is Capital </a:t>
            </a:r>
            <a:r>
              <a:rPr lang="en-GB" dirty="0" smtClean="0"/>
              <a:t>Letter,</a:t>
            </a:r>
            <a:r>
              <a:rPr lang="en-GB" b="1" dirty="0" smtClean="0"/>
              <a:t>12. </a:t>
            </a:r>
            <a:r>
              <a:rPr lang="en-GB" dirty="0"/>
              <a:t>Check if Temperature is Hot or </a:t>
            </a:r>
            <a:r>
              <a:rPr lang="en-GB" dirty="0" smtClean="0"/>
              <a:t>Cold</a:t>
            </a:r>
          </a:p>
          <a:p>
            <a:r>
              <a:rPr lang="en-GB" dirty="0"/>
              <a:t>Check if Person is </a:t>
            </a:r>
            <a:r>
              <a:rPr lang="en-GB" dirty="0" smtClean="0"/>
              <a:t>Teenager </a:t>
            </a:r>
            <a:r>
              <a:rPr lang="en-GB" b="1" dirty="0" smtClean="0"/>
              <a:t>14. </a:t>
            </a:r>
            <a:r>
              <a:rPr lang="en-GB" dirty="0"/>
              <a:t> </a:t>
            </a:r>
            <a:r>
              <a:rPr lang="en-GB" dirty="0" smtClean="0"/>
              <a:t>check the student fail or pass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0220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B88CDD4-3FAD-4F7C-8FEA-166DD92915ED}"/>
              </a:ext>
            </a:extLst>
          </p:cNvPr>
          <p:cNvSpPr/>
          <p:nvPr/>
        </p:nvSpPr>
        <p:spPr>
          <a:xfrm>
            <a:off x="457200" y="637372"/>
            <a:ext cx="782240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Loops in JavaScript</a:t>
            </a:r>
          </a:p>
          <a:p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Loops?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Loops allow you to repeat a </a:t>
            </a:r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 of code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multiple times until a specific condition is met.</a:t>
            </a:r>
          </a:p>
        </p:txBody>
      </p:sp>
    </p:spTree>
    <p:extLst>
      <p:ext uri="{BB962C8B-B14F-4D97-AF65-F5344CB8AC3E}">
        <p14:creationId xmlns:p14="http://schemas.microsoft.com/office/powerpoint/2010/main" val="2495271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454C78B-EC52-4C8A-B64C-1D00BF2CBBED}"/>
              </a:ext>
            </a:extLst>
          </p:cNvPr>
          <p:cNvSpPr/>
          <p:nvPr/>
        </p:nvSpPr>
        <p:spPr>
          <a:xfrm>
            <a:off x="464343" y="721520"/>
            <a:ext cx="7822406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For Loop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 for loop repeats a block of code a </a:t>
            </a:r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fixed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number of times.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Syntax: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for (</a:t>
            </a:r>
            <a:r>
              <a:rPr lang="en-US" sz="18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initialization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sz="1800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increment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// Code to execute</a:t>
            </a:r>
          </a:p>
          <a:p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  <a:p>
            <a:endParaRPr lang="en-US" sz="1800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for (let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0;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 5;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++)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console.log(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		// Prints 0 to 4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98935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45FD5A8F-736A-4C64-B6F9-A97B47F9C40A}"/>
              </a:ext>
            </a:extLst>
          </p:cNvPr>
          <p:cNvSpPr/>
          <p:nvPr/>
        </p:nvSpPr>
        <p:spPr>
          <a:xfrm>
            <a:off x="507205" y="639425"/>
            <a:ext cx="7643814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 Loop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 while loop repeats a block of code as long as the condition is true.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while (condition)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// Code to execute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1;     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while 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 5) {  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console.log(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		// Prints 0 to 4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++;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4287847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8D15E3ED-98B3-40BE-974D-5955BD3FED5E}"/>
              </a:ext>
            </a:extLst>
          </p:cNvPr>
          <p:cNvSpPr/>
          <p:nvPr/>
        </p:nvSpPr>
        <p:spPr>
          <a:xfrm>
            <a:off x="464343" y="509707"/>
            <a:ext cx="7529513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Do-While Loop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 do-while loop is similar to a while loop, except that it executes the block at least once, even if the condition is false.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do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// Code to execute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 while (condition);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0;   0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do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console.log(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  		// Prints 0 to 4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++;          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 while 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 5);    </a:t>
            </a:r>
          </a:p>
        </p:txBody>
      </p:sp>
    </p:spTree>
    <p:extLst>
      <p:ext uri="{BB962C8B-B14F-4D97-AF65-F5344CB8AC3E}">
        <p14:creationId xmlns:p14="http://schemas.microsoft.com/office/powerpoint/2010/main" val="1318637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24A7701F-2458-480B-BCF2-A5434474C08D}"/>
              </a:ext>
            </a:extLst>
          </p:cNvPr>
          <p:cNvSpPr/>
          <p:nvPr/>
        </p:nvSpPr>
        <p:spPr>
          <a:xfrm>
            <a:off x="492917" y="1248013"/>
            <a:ext cx="676513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Activity: Number Guessing Game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Description: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We will create a simple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Guessing Game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program will generate a random number between 1 and 10.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Students will use a loop to guess the number until they get it right.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34A9B82-22C5-4623-85A7-E6F2ACA13024}"/>
              </a:ext>
            </a:extLst>
          </p:cNvPr>
          <p:cNvSpPr/>
          <p:nvPr/>
        </p:nvSpPr>
        <p:spPr>
          <a:xfrm>
            <a:off x="399149" y="724793"/>
            <a:ext cx="30796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Activity-Based Task</a:t>
            </a:r>
          </a:p>
        </p:txBody>
      </p:sp>
    </p:spTree>
    <p:extLst>
      <p:ext uri="{BB962C8B-B14F-4D97-AF65-F5344CB8AC3E}">
        <p14:creationId xmlns:p14="http://schemas.microsoft.com/office/powerpoint/2010/main" val="53106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95071EE3-EF38-42C4-A8BE-C56EDA0B95BA}"/>
              </a:ext>
            </a:extLst>
          </p:cNvPr>
          <p:cNvSpPr/>
          <p:nvPr/>
        </p:nvSpPr>
        <p:spPr>
          <a:xfrm>
            <a:off x="494282" y="710506"/>
            <a:ext cx="2214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for the Activity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7205C4B5-EDB1-4E6A-B425-3253E4C5C1B1}"/>
              </a:ext>
            </a:extLst>
          </p:cNvPr>
          <p:cNvSpPr/>
          <p:nvPr/>
        </p:nvSpPr>
        <p:spPr>
          <a:xfrm>
            <a:off x="728663" y="1079838"/>
            <a:ext cx="8043862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randomNumber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Math.floor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Math.random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* 10) + 1;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guess;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guess = Number(prompt("Guess a number between 1 and 10:"));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if (guess &gt;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randomNumber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console.log("Too high! Try again.");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} else if (guess &lt;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randomNumber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console.log("Too low! Try again.");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}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 while (guess !==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randomNumber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console.log("Congratulations! You guessed the correct number: " +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randomNumber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123720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DDE78405-7874-41B5-A5DA-DC4367B3E367}"/>
              </a:ext>
            </a:extLst>
          </p:cNvPr>
          <p:cNvSpPr/>
          <p:nvPr/>
        </p:nvSpPr>
        <p:spPr>
          <a:xfrm>
            <a:off x="454935" y="760710"/>
            <a:ext cx="387477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Differences Between Loops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F0916123-893E-4054-97EE-6A816E78C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270329"/>
              </p:ext>
            </p:extLst>
          </p:nvPr>
        </p:nvGraphicFramePr>
        <p:xfrm>
          <a:off x="687586" y="1426210"/>
          <a:ext cx="7768828" cy="2291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01679">
                  <a:extLst>
                    <a:ext uri="{9D8B030D-6E8A-4147-A177-3AD203B41FA5}">
                      <a16:colId xmlns:a16="http://schemas.microsoft.com/office/drawing/2014/main" xmlns="" val="1233014958"/>
                    </a:ext>
                  </a:extLst>
                </a:gridCol>
                <a:gridCol w="3785165">
                  <a:extLst>
                    <a:ext uri="{9D8B030D-6E8A-4147-A177-3AD203B41FA5}">
                      <a16:colId xmlns:a16="http://schemas.microsoft.com/office/drawing/2014/main" xmlns="" val="2228239930"/>
                    </a:ext>
                  </a:extLst>
                </a:gridCol>
                <a:gridCol w="2381984">
                  <a:extLst>
                    <a:ext uri="{9D8B030D-6E8A-4147-A177-3AD203B41FA5}">
                      <a16:colId xmlns:a16="http://schemas.microsoft.com/office/drawing/2014/main" xmlns="" val="22277079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Loop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 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13690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For Loop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Repeats a block a fixed number of times.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Iterating over an array.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030804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While Loop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Repeats a block as long as a condition is true.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Validating user input.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362934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Do-While Loop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Executes the block at least once.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Asking for input until it's valid.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820556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394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continue </a:t>
            </a:r>
            <a:r>
              <a:rPr lang="en-GB" sz="3200" dirty="0" smtClean="0"/>
              <a:t>and </a:t>
            </a:r>
            <a:r>
              <a:rPr lang="en-GB" sz="3200" dirty="0"/>
              <a:t>break keyword</a:t>
            </a: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000" u="sng" dirty="0" smtClean="0"/>
              <a:t>Continue </a:t>
            </a:r>
          </a:p>
          <a:p>
            <a:r>
              <a:rPr lang="en-GB" sz="2000" dirty="0" smtClean="0"/>
              <a:t>It </a:t>
            </a:r>
            <a:r>
              <a:rPr lang="en-GB" sz="2000" b="1" dirty="0"/>
              <a:t>skips the current iteration</a:t>
            </a:r>
            <a:r>
              <a:rPr lang="en-GB" sz="2000" dirty="0"/>
              <a:t> of the loop</a:t>
            </a:r>
            <a:r>
              <a:rPr lang="en-GB" sz="2000" dirty="0" smtClean="0"/>
              <a:t>.</a:t>
            </a:r>
          </a:p>
          <a:p>
            <a:r>
              <a:rPr lang="en-GB" sz="2000" dirty="0"/>
              <a:t>The loop will </a:t>
            </a:r>
            <a:r>
              <a:rPr lang="en-GB" sz="2000" b="1" dirty="0"/>
              <a:t>continue with the next iteration</a:t>
            </a:r>
            <a:r>
              <a:rPr lang="en-GB" sz="2000" dirty="0" smtClean="0"/>
              <a:t>.</a:t>
            </a:r>
          </a:p>
          <a:p>
            <a:pPr algn="ctr"/>
            <a:r>
              <a:rPr lang="en-GB" sz="2000" u="sng" dirty="0" smtClean="0"/>
              <a:t>Break</a:t>
            </a:r>
            <a:endParaRPr lang="en-US" sz="2000" u="sng" dirty="0" smtClean="0"/>
          </a:p>
          <a:p>
            <a:r>
              <a:rPr lang="en-GB" sz="2000" dirty="0"/>
              <a:t>It </a:t>
            </a:r>
            <a:r>
              <a:rPr lang="en-GB" sz="2000" b="1" dirty="0"/>
              <a:t>completely stops the loop</a:t>
            </a:r>
            <a:r>
              <a:rPr lang="en-GB" sz="2000" dirty="0" smtClean="0"/>
              <a:t>.</a:t>
            </a:r>
          </a:p>
          <a:p>
            <a:r>
              <a:rPr lang="en-GB" sz="2000" dirty="0"/>
              <a:t>The loop will </a:t>
            </a:r>
            <a:r>
              <a:rPr lang="en-GB" sz="2000" b="1" dirty="0"/>
              <a:t>not run anymore</a:t>
            </a:r>
            <a:r>
              <a:rPr lang="en-GB" sz="2000" dirty="0"/>
              <a:t> after break</a:t>
            </a:r>
            <a:r>
              <a:rPr lang="en-GB" sz="2000" dirty="0" smtClean="0"/>
              <a:t>.</a:t>
            </a:r>
          </a:p>
          <a:p>
            <a:pPr algn="ctr"/>
            <a:r>
              <a:rPr lang="en-GB" sz="2000" dirty="0" smtClean="0"/>
              <a:t>Return</a:t>
            </a:r>
          </a:p>
          <a:p>
            <a:r>
              <a:rPr lang="en-US" sz="2000" dirty="0"/>
              <a:t>Used </a:t>
            </a:r>
            <a:r>
              <a:rPr lang="en-US" sz="2000" b="1" dirty="0"/>
              <a:t>inside a function</a:t>
            </a:r>
            <a:r>
              <a:rPr lang="en-US" sz="2000" dirty="0" smtClean="0"/>
              <a:t>.</a:t>
            </a:r>
          </a:p>
          <a:p>
            <a:r>
              <a:rPr lang="en-GB" sz="2000" dirty="0"/>
              <a:t>It </a:t>
            </a:r>
            <a:r>
              <a:rPr lang="en-GB" sz="2000" b="1" dirty="0"/>
              <a:t>stops the function immediately</a:t>
            </a:r>
            <a:r>
              <a:rPr lang="en-GB" sz="2000" dirty="0"/>
              <a:t> and sends a value (or nothing) back.</a:t>
            </a:r>
          </a:p>
        </p:txBody>
      </p:sp>
    </p:spTree>
    <p:extLst>
      <p:ext uri="{BB962C8B-B14F-4D97-AF65-F5344CB8AC3E}">
        <p14:creationId xmlns:p14="http://schemas.microsoft.com/office/powerpoint/2010/main" val="3611644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813237"/>
              </p:ext>
            </p:extLst>
          </p:nvPr>
        </p:nvGraphicFramePr>
        <p:xfrm>
          <a:off x="457200" y="1171575"/>
          <a:ext cx="7620000" cy="3017520"/>
        </p:xfrm>
        <a:graphic>
          <a:graphicData uri="http://schemas.openxmlformats.org/drawingml/2006/table">
            <a:tbl>
              <a:tblPr/>
              <a:tblGrid>
                <a:gridCol w="2540000"/>
                <a:gridCol w="2540000"/>
                <a:gridCol w="2540000"/>
              </a:tblGrid>
              <a:tr h="464234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break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4234">
                <a:tc>
                  <a:txBody>
                    <a:bodyPr/>
                    <a:lstStyle/>
                    <a:p>
                      <a:r>
                        <a:rPr lang="en-US"/>
                        <a:t>Where used?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Loops &amp; switch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12409">
                <a:tc>
                  <a:txBody>
                    <a:bodyPr/>
                    <a:lstStyle/>
                    <a:p>
                      <a:r>
                        <a:rPr lang="en-US" dirty="0"/>
                        <a:t>Effect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Stops only the </a:t>
                      </a:r>
                      <a:r>
                        <a:rPr lang="en-US" b="1"/>
                        <a:t>loop/switch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Stops the </a:t>
                      </a:r>
                      <a:r>
                        <a:rPr lang="en-US" b="1"/>
                        <a:t>entire function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4234">
                <a:tc>
                  <a:txBody>
                    <a:bodyPr/>
                    <a:lstStyle/>
                    <a:p>
                      <a:r>
                        <a:rPr lang="en-US"/>
                        <a:t>Can send value?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Yes, returns a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12409">
                <a:tc>
                  <a:txBody>
                    <a:bodyPr/>
                    <a:lstStyle/>
                    <a:p>
                      <a:r>
                        <a:rPr lang="en-US"/>
                        <a:t>Execution after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Continues after the loop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 exits immediately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78375" y="580975"/>
            <a:ext cx="8520600" cy="3416400"/>
          </a:xfrm>
        </p:spPr>
        <p:txBody>
          <a:bodyPr/>
          <a:lstStyle/>
          <a:p>
            <a:r>
              <a:rPr lang="en-US" dirty="0"/>
              <a:t>Key Differences:</a:t>
            </a:r>
          </a:p>
        </p:txBody>
      </p:sp>
    </p:spTree>
    <p:extLst>
      <p:ext uri="{BB962C8B-B14F-4D97-AF65-F5344CB8AC3E}">
        <p14:creationId xmlns:p14="http://schemas.microsoft.com/office/powerpoint/2010/main" val="2981695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9B62416E-562B-4E77-80C5-81B0FFA6CA1E}"/>
              </a:ext>
            </a:extLst>
          </p:cNvPr>
          <p:cNvSpPr/>
          <p:nvPr/>
        </p:nvSpPr>
        <p:spPr>
          <a:xfrm>
            <a:off x="450055" y="614779"/>
            <a:ext cx="8472489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 Task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 conditional statement?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program to check if a number is positive, negative, or zero.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difference between if-else and ternary operator?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script to print all even numbers from 1 to 10 using a for loop.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JavaScript program to check if a number is divisible by 5 using a while loop.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 the difference between while and do-while loops with examples.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program that prints the multiplication table of a number using a for loop.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program to count the number of digits in a given number using a while loop.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program to print numbers from 10 to 1 using a for loop (reverse order).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script that asks the user to input numbers until the sum of all entered numbers is greater than 100.</a:t>
            </a:r>
          </a:p>
        </p:txBody>
      </p:sp>
    </p:spTree>
    <p:extLst>
      <p:ext uri="{BB962C8B-B14F-4D97-AF65-F5344CB8AC3E}">
        <p14:creationId xmlns:p14="http://schemas.microsoft.com/office/powerpoint/2010/main" val="365863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4617AA6-F60D-49C7-9CD5-E19F71BD7FC2}"/>
              </a:ext>
            </a:extLst>
          </p:cNvPr>
          <p:cNvSpPr/>
          <p:nvPr/>
        </p:nvSpPr>
        <p:spPr>
          <a:xfrm>
            <a:off x="1347490" y="1786920"/>
            <a:ext cx="64490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No: 04</a:t>
            </a:r>
          </a:p>
        </p:txBody>
      </p:sp>
    </p:spTree>
    <p:extLst>
      <p:ext uri="{BB962C8B-B14F-4D97-AF65-F5344CB8AC3E}">
        <p14:creationId xmlns:p14="http://schemas.microsoft.com/office/powerpoint/2010/main" val="2303002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EE564E36-7B65-4B5C-A367-58AB831EF9B9}"/>
              </a:ext>
            </a:extLst>
          </p:cNvPr>
          <p:cNvSpPr/>
          <p:nvPr/>
        </p:nvSpPr>
        <p:spPr>
          <a:xfrm>
            <a:off x="425653" y="565324"/>
            <a:ext cx="47099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Functions, Arrays, and Objects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E39DA6-6261-4C99-84D9-3F609DC4367C}"/>
              </a:ext>
            </a:extLst>
          </p:cNvPr>
          <p:cNvSpPr/>
          <p:nvPr/>
        </p:nvSpPr>
        <p:spPr>
          <a:xfrm>
            <a:off x="425653" y="1088544"/>
            <a:ext cx="7832522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 Function?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 function is a block of code designed to perform a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 task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You can "call" or "invoke" the function whenever you need that task to be performed.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879D5416-007C-4EF4-8988-897B0AD05807}"/>
              </a:ext>
            </a:extLst>
          </p:cNvPr>
          <p:cNvSpPr/>
          <p:nvPr/>
        </p:nvSpPr>
        <p:spPr>
          <a:xfrm>
            <a:off x="425653" y="2350428"/>
            <a:ext cx="6470531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 Syntax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function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(parameters)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// Code to execute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(“hello”) 	//calling the function</a:t>
            </a:r>
          </a:p>
        </p:txBody>
      </p:sp>
    </p:spTree>
    <p:extLst>
      <p:ext uri="{BB962C8B-B14F-4D97-AF65-F5344CB8AC3E}">
        <p14:creationId xmlns:p14="http://schemas.microsoft.com/office/powerpoint/2010/main" val="1241643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0674C44D-2115-42C3-B696-E52C0F9C50CB}"/>
              </a:ext>
            </a:extLst>
          </p:cNvPr>
          <p:cNvSpPr/>
          <p:nvPr/>
        </p:nvSpPr>
        <p:spPr>
          <a:xfrm>
            <a:off x="461503" y="633883"/>
            <a:ext cx="388760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Functions in JavaScript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FD9DC55-FB4B-48C7-A1C0-BBFD72D62320}"/>
              </a:ext>
            </a:extLst>
          </p:cNvPr>
          <p:cNvSpPr/>
          <p:nvPr/>
        </p:nvSpPr>
        <p:spPr>
          <a:xfrm>
            <a:off x="461503" y="1064770"/>
            <a:ext cx="8060991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 with No Parameters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 function that does not take any input values (parameters) when called. It simply performs its task and may or may not return a value.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function greet()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console.log("Hello, World!");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greet(); 		// Output: Hello, World!</a:t>
            </a:r>
          </a:p>
        </p:txBody>
      </p:sp>
    </p:spTree>
    <p:extLst>
      <p:ext uri="{BB962C8B-B14F-4D97-AF65-F5344CB8AC3E}">
        <p14:creationId xmlns:p14="http://schemas.microsoft.com/office/powerpoint/2010/main" val="326572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6FBCED8-31C3-449E-8643-C7840F542A0F}"/>
              </a:ext>
            </a:extLst>
          </p:cNvPr>
          <p:cNvSpPr/>
          <p:nvPr/>
        </p:nvSpPr>
        <p:spPr>
          <a:xfrm>
            <a:off x="447510" y="661945"/>
            <a:ext cx="8017833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 with Parameters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 function that takes input values (called parameters) when called. The parameters allow the function to work with different data.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function greet(name)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console.log("Hello, " + name + "!");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greet("Ali"); 		// Output: Hello, Ali!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greet(“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rabia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”); 	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greet(“Abdullah”); 	</a:t>
            </a:r>
          </a:p>
        </p:txBody>
      </p:sp>
    </p:spTree>
    <p:extLst>
      <p:ext uri="{BB962C8B-B14F-4D97-AF65-F5344CB8AC3E}">
        <p14:creationId xmlns:p14="http://schemas.microsoft.com/office/powerpoint/2010/main" val="1136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2957B77-EE23-4431-9564-BEF2E49EB30A}"/>
              </a:ext>
            </a:extLst>
          </p:cNvPr>
          <p:cNvSpPr/>
          <p:nvPr/>
        </p:nvSpPr>
        <p:spPr>
          <a:xfrm>
            <a:off x="464784" y="680657"/>
            <a:ext cx="8214432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 with Return Value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 function that sends a result back to the code that called it. The return keyword is used to give back the result.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function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addNumber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(a, b) { 		//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a,b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parameters here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return a + b; 		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sum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addNumber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(5, 10);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console.log("Sum:", sum); 		// Output: Sum: 15</a:t>
            </a:r>
          </a:p>
        </p:txBody>
      </p:sp>
    </p:spTree>
    <p:extLst>
      <p:ext uri="{BB962C8B-B14F-4D97-AF65-F5344CB8AC3E}">
        <p14:creationId xmlns:p14="http://schemas.microsoft.com/office/powerpoint/2010/main" val="3397603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41BF400-888B-48CA-AF99-B241B571263E}"/>
              </a:ext>
            </a:extLst>
          </p:cNvPr>
          <p:cNvSpPr/>
          <p:nvPr/>
        </p:nvSpPr>
        <p:spPr>
          <a:xfrm>
            <a:off x="488515" y="633053"/>
            <a:ext cx="816697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Arrow Functions in JavaScript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Arrow functions provide a shorter syntax to define functions. They are defined using the =&gt; (arrow) symbol.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(parameters) =&gt;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// Code to execute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DA702E6-0C3C-45A0-B063-42C48E946D2E}"/>
              </a:ext>
            </a:extLst>
          </p:cNvPr>
          <p:cNvSpPr/>
          <p:nvPr/>
        </p:nvSpPr>
        <p:spPr>
          <a:xfrm>
            <a:off x="488515" y="3002933"/>
            <a:ext cx="6440923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(Arrow Function with No Parameters):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const greet = () =&gt;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console.log("Hello, World!");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greet(); 		// Output: Hello, World!</a:t>
            </a:r>
          </a:p>
        </p:txBody>
      </p:sp>
    </p:spTree>
    <p:extLst>
      <p:ext uri="{BB962C8B-B14F-4D97-AF65-F5344CB8AC3E}">
        <p14:creationId xmlns:p14="http://schemas.microsoft.com/office/powerpoint/2010/main" val="2084699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8BF86D5-D34E-4E44-AEA4-7F877CF67477}"/>
              </a:ext>
            </a:extLst>
          </p:cNvPr>
          <p:cNvSpPr/>
          <p:nvPr/>
        </p:nvSpPr>
        <p:spPr>
          <a:xfrm>
            <a:off x="482252" y="673893"/>
            <a:ext cx="6718647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(Arrow Function with Parameters):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const add = (a, b) =&gt;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return a + b;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console.log(add(5, 10)); 		// Output: 15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FF40BE32-E1D8-4E70-8CD0-433A1D69CFD9}"/>
              </a:ext>
            </a:extLst>
          </p:cNvPr>
          <p:cNvSpPr/>
          <p:nvPr/>
        </p:nvSpPr>
        <p:spPr>
          <a:xfrm>
            <a:off x="482252" y="2178008"/>
            <a:ext cx="7697342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Simplified Arrow Function (Single Line):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If the function has only one expression, you can omit the braces {} and the return keyword: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const multiply = (a, b) =&gt; a * b;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console.log(multiply(5, 3)); 		// Output: 15</a:t>
            </a:r>
          </a:p>
        </p:txBody>
      </p:sp>
    </p:spTree>
    <p:extLst>
      <p:ext uri="{BB962C8B-B14F-4D97-AF65-F5344CB8AC3E}">
        <p14:creationId xmlns:p14="http://schemas.microsoft.com/office/powerpoint/2010/main" val="1627556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95E45FFA-70BF-4BFC-A856-152B693EA05D}"/>
              </a:ext>
            </a:extLst>
          </p:cNvPr>
          <p:cNvSpPr/>
          <p:nvPr/>
        </p:nvSpPr>
        <p:spPr>
          <a:xfrm>
            <a:off x="463687" y="590352"/>
            <a:ext cx="30925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Arrays in JavaScript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CA1F10BA-3BD8-4BAC-900F-229609862EA5}"/>
              </a:ext>
            </a:extLst>
          </p:cNvPr>
          <p:cNvSpPr/>
          <p:nvPr/>
        </p:nvSpPr>
        <p:spPr>
          <a:xfrm>
            <a:off x="463687" y="1113572"/>
            <a:ext cx="8121857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an Array?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An array is a collection of multiple values stored in a single variable. Each value in an array is called an "element.“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Array Syntax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arrayName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[value1, value2, value3];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(Declaring an Array)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fruits = ["Apple", "Banana", "Mango"];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console.log(fruits); 		// Output: ["Apple", "Banana", "Mango"]</a:t>
            </a:r>
          </a:p>
        </p:txBody>
      </p:sp>
    </p:spTree>
    <p:extLst>
      <p:ext uri="{BB962C8B-B14F-4D97-AF65-F5344CB8AC3E}">
        <p14:creationId xmlns:p14="http://schemas.microsoft.com/office/powerpoint/2010/main" val="56911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2362558-F2AD-434B-B873-CBA6EDFBC94C}"/>
              </a:ext>
            </a:extLst>
          </p:cNvPr>
          <p:cNvSpPr/>
          <p:nvPr/>
        </p:nvSpPr>
        <p:spPr>
          <a:xfrm>
            <a:off x="446727" y="755629"/>
            <a:ext cx="838294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Accessing Array Elements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You can access an array element by its index (position). Indexes start from </a:t>
            </a:r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fruits = ["Apple", "Banana", "Mango"];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console.log(fruits[0]); 		// Output: Apple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3E99CAD-C563-4C59-9153-9F16D4CB32B4}"/>
              </a:ext>
            </a:extLst>
          </p:cNvPr>
          <p:cNvSpPr/>
          <p:nvPr/>
        </p:nvSpPr>
        <p:spPr>
          <a:xfrm>
            <a:off x="446727" y="2571511"/>
            <a:ext cx="7975753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Array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push():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Adds an element to the end of the array.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fruits = ["Apple", "Banana"];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fruits.push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("Mango");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console.log(fruits); 			// ["Apple", "Banana", "Mango"]</a:t>
            </a:r>
          </a:p>
        </p:txBody>
      </p:sp>
    </p:spTree>
    <p:extLst>
      <p:ext uri="{BB962C8B-B14F-4D97-AF65-F5344CB8AC3E}">
        <p14:creationId xmlns:p14="http://schemas.microsoft.com/office/powerpoint/2010/main" val="1975359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AD28350-1119-4457-AAD4-7C12FE991CF3}"/>
              </a:ext>
            </a:extLst>
          </p:cNvPr>
          <p:cNvSpPr/>
          <p:nvPr/>
        </p:nvSpPr>
        <p:spPr>
          <a:xfrm>
            <a:off x="470997" y="981700"/>
            <a:ext cx="595123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pop():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Removes the last element.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fruits = ["Apple", "Banana"];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fruits.pop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console.log(fruits); 		// ["Apple"]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1593AC41-71F4-4747-A2A2-101339198635}"/>
              </a:ext>
            </a:extLst>
          </p:cNvPr>
          <p:cNvSpPr/>
          <p:nvPr/>
        </p:nvSpPr>
        <p:spPr>
          <a:xfrm>
            <a:off x="470997" y="2459028"/>
            <a:ext cx="595123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shift():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Removes the first element.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fruits = ["Apple", "Banana"];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fruits.shift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console.log(fruits); 		// ["Banana"]</a:t>
            </a:r>
          </a:p>
        </p:txBody>
      </p:sp>
    </p:spTree>
    <p:extLst>
      <p:ext uri="{BB962C8B-B14F-4D97-AF65-F5344CB8AC3E}">
        <p14:creationId xmlns:p14="http://schemas.microsoft.com/office/powerpoint/2010/main" val="111321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AD41518-E894-4A31-BD24-47238DF41350}"/>
              </a:ext>
            </a:extLst>
          </p:cNvPr>
          <p:cNvSpPr/>
          <p:nvPr/>
        </p:nvSpPr>
        <p:spPr>
          <a:xfrm>
            <a:off x="463623" y="778974"/>
            <a:ext cx="701588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unshift():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Adds an element to the beginning of the array.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fruits = ["Banana"];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fruits.unshift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("Apple");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console.log(fruits); 		// ["Apple", "Banana"]</a:t>
            </a:r>
          </a:p>
        </p:txBody>
      </p:sp>
    </p:spTree>
    <p:extLst>
      <p:ext uri="{BB962C8B-B14F-4D97-AF65-F5344CB8AC3E}">
        <p14:creationId xmlns:p14="http://schemas.microsoft.com/office/powerpoint/2010/main" val="3813608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8C3EFFE-51A9-4A55-8E0F-DD559762EBCF}"/>
              </a:ext>
            </a:extLst>
          </p:cNvPr>
          <p:cNvSpPr/>
          <p:nvPr/>
        </p:nvSpPr>
        <p:spPr>
          <a:xfrm>
            <a:off x="456479" y="615387"/>
            <a:ext cx="32528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Objects in JavaScript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B5FC644B-9DA5-4CF4-BDD6-4D6E568F10D4}"/>
              </a:ext>
            </a:extLst>
          </p:cNvPr>
          <p:cNvSpPr/>
          <p:nvPr/>
        </p:nvSpPr>
        <p:spPr>
          <a:xfrm>
            <a:off x="456479" y="1138607"/>
            <a:ext cx="842316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an Object?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An object is a collection of key-value pairs. Each key represents a property, and the value represents the property's data.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 Syntax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key1: value1,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key2: value2,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key3: value3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};</a:t>
            </a:r>
          </a:p>
        </p:txBody>
      </p:sp>
    </p:spTree>
    <p:extLst>
      <p:ext uri="{BB962C8B-B14F-4D97-AF65-F5344CB8AC3E}">
        <p14:creationId xmlns:p14="http://schemas.microsoft.com/office/powerpoint/2010/main" val="4184653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7514ED4-B611-4E1B-AA85-9E4F26EB0D94}"/>
              </a:ext>
            </a:extLst>
          </p:cNvPr>
          <p:cNvSpPr/>
          <p:nvPr/>
        </p:nvSpPr>
        <p:spPr>
          <a:xfrm>
            <a:off x="493800" y="686527"/>
            <a:ext cx="665709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student =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name: "Ali",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age: 20,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isEnrolled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true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console.log(student.name); 		// Output: Ali</a:t>
            </a:r>
          </a:p>
        </p:txBody>
      </p:sp>
    </p:spTree>
    <p:extLst>
      <p:ext uri="{BB962C8B-B14F-4D97-AF65-F5344CB8AC3E}">
        <p14:creationId xmlns:p14="http://schemas.microsoft.com/office/powerpoint/2010/main" val="2888777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3077CE5-7FE9-4565-B701-EC46DB980ADF}"/>
              </a:ext>
            </a:extLst>
          </p:cNvPr>
          <p:cNvSpPr/>
          <p:nvPr/>
        </p:nvSpPr>
        <p:spPr>
          <a:xfrm>
            <a:off x="443794" y="698468"/>
            <a:ext cx="8493038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Accessing and Modifying Object Properties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access object properties using dot notation or bracket notation.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also modify or add new properties.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student = { name: "Ali", age: 20 };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console.log(student.name);		 // Access property using dot notation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student.age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21; 			// Modify property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student.grade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"A"; 		// Add new property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console.log(student);</a:t>
            </a:r>
          </a:p>
        </p:txBody>
      </p:sp>
    </p:spTree>
    <p:extLst>
      <p:ext uri="{BB962C8B-B14F-4D97-AF65-F5344CB8AC3E}">
        <p14:creationId xmlns:p14="http://schemas.microsoft.com/office/powerpoint/2010/main" val="3478602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2DDABC30-1C32-4F9B-B842-70373288886C}"/>
              </a:ext>
            </a:extLst>
          </p:cNvPr>
          <p:cNvSpPr/>
          <p:nvPr/>
        </p:nvSpPr>
        <p:spPr>
          <a:xfrm>
            <a:off x="425219" y="634543"/>
            <a:ext cx="8293561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Activity-Based Task: Student Report Generator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In this task, we will build a Student Report Generator using functions and objects.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Description: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an object student with properties like name, age, and marks (an array of subject marks).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function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calculateAverage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to calculate the average marks.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the student details and average marks.</a:t>
            </a:r>
          </a:p>
        </p:txBody>
      </p:sp>
    </p:spTree>
    <p:extLst>
      <p:ext uri="{BB962C8B-B14F-4D97-AF65-F5344CB8AC3E}">
        <p14:creationId xmlns:p14="http://schemas.microsoft.com/office/powerpoint/2010/main" val="2331787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DDE5479A-36C2-42CF-9CA1-F107C6675118}"/>
              </a:ext>
            </a:extLst>
          </p:cNvPr>
          <p:cNvSpPr/>
          <p:nvPr/>
        </p:nvSpPr>
        <p:spPr>
          <a:xfrm>
            <a:off x="455499" y="633198"/>
            <a:ext cx="20297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for Activity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FC067B5-0846-4A98-A22E-2B79E51DD4BF}"/>
              </a:ext>
            </a:extLst>
          </p:cNvPr>
          <p:cNvSpPr/>
          <p:nvPr/>
        </p:nvSpPr>
        <p:spPr>
          <a:xfrm>
            <a:off x="3131409" y="193089"/>
            <a:ext cx="535536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student = 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name: "Ali",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age: 20,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marks: [85, 90, 78, 88, 92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   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};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calculateAverage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(marks) 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let sum = 0;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for (let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0;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marks.length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++) 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sum += marks[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}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return sum /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marks.length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console.log("Student Name:", student.name);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console.log("Student Age:",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student.age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console.log("Average Marks:",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calculateAverage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student.marks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2459735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5933A2A-4683-474A-8CFB-F6630BB21D6D}"/>
              </a:ext>
            </a:extLst>
          </p:cNvPr>
          <p:cNvSpPr/>
          <p:nvPr/>
        </p:nvSpPr>
        <p:spPr>
          <a:xfrm>
            <a:off x="462680" y="649580"/>
            <a:ext cx="840985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 Task 4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 function in JavaScript? Create a function to calculate the square of a number.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function that takes two numbers as input and returns their product.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Declare an array of colors. Add a new color to the end and remove the first color.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an array of numbers and find the sum of all numbers using a loop.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an object car with properties make, model, and year. Print each property.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function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isEven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that checks if a number is even or odd.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an array of student names. Use a loop to print each name.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function that takes an array of numbers and returns the largest number.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an object person with properties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lastName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Write a function to display the full name.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program to reverse the elements of an array without using any built-in methods.</a:t>
            </a:r>
          </a:p>
        </p:txBody>
      </p:sp>
    </p:spTree>
    <p:extLst>
      <p:ext uri="{BB962C8B-B14F-4D97-AF65-F5344CB8AC3E}">
        <p14:creationId xmlns:p14="http://schemas.microsoft.com/office/powerpoint/2010/main" val="378662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EC14CF7-5720-4CB1-AD2F-1FE08CC1AE14}"/>
              </a:ext>
            </a:extLst>
          </p:cNvPr>
          <p:cNvSpPr/>
          <p:nvPr/>
        </p:nvSpPr>
        <p:spPr>
          <a:xfrm>
            <a:off x="1347490" y="1786920"/>
            <a:ext cx="64490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No: 05</a:t>
            </a:r>
          </a:p>
        </p:txBody>
      </p:sp>
    </p:spTree>
    <p:extLst>
      <p:ext uri="{BB962C8B-B14F-4D97-AF65-F5344CB8AC3E}">
        <p14:creationId xmlns:p14="http://schemas.microsoft.com/office/powerpoint/2010/main" val="2539986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83A51818-F7D3-48E8-9AD2-F85051E3B494}"/>
              </a:ext>
            </a:extLst>
          </p:cNvPr>
          <p:cNvSpPr/>
          <p:nvPr/>
        </p:nvSpPr>
        <p:spPr>
          <a:xfrm>
            <a:off x="429499" y="610493"/>
            <a:ext cx="310052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the DOM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DD0955A-6F24-41C7-86B6-811ECE39EEC4}"/>
              </a:ext>
            </a:extLst>
          </p:cNvPr>
          <p:cNvSpPr/>
          <p:nvPr/>
        </p:nvSpPr>
        <p:spPr>
          <a:xfrm>
            <a:off x="429499" y="1127462"/>
            <a:ext cx="8014414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DOM?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The DOM (Document Object Model) is a representation of the structure of an HTML document as a tree of nodes. It allows JavaScript to access, manipulate, and modify the structure and content of web pages.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 Structure: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HTML elements are represented as nodes (e.g., &lt;html&gt;, &lt;body&gt;, &lt;div&gt;, etc.). Text content is also represented as text nodes.</a:t>
            </a:r>
          </a:p>
        </p:txBody>
      </p:sp>
    </p:spTree>
    <p:extLst>
      <p:ext uri="{BB962C8B-B14F-4D97-AF65-F5344CB8AC3E}">
        <p14:creationId xmlns:p14="http://schemas.microsoft.com/office/powerpoint/2010/main" val="3649953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62EC375-CC96-4591-9BF1-5942765F9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55" y="615316"/>
            <a:ext cx="7583090" cy="409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230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6F034A9-F466-4BE3-86A4-1087635FD683}"/>
              </a:ext>
            </a:extLst>
          </p:cNvPr>
          <p:cNvSpPr/>
          <p:nvPr/>
        </p:nvSpPr>
        <p:spPr>
          <a:xfrm>
            <a:off x="479505" y="636806"/>
            <a:ext cx="538551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(HTML and its DOM Structure):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&lt;body&gt;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&lt;h1 id="heading"&gt;Hello&lt;/h1&gt;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&lt;p&gt;This is a paragraph.&lt;/p&gt;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&lt;/body&gt;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198C9236-3D20-48BA-8368-BFBFCA0FFAE9}"/>
              </a:ext>
            </a:extLst>
          </p:cNvPr>
          <p:cNvSpPr/>
          <p:nvPr/>
        </p:nvSpPr>
        <p:spPr>
          <a:xfrm>
            <a:off x="479505" y="2114134"/>
            <a:ext cx="4572000" cy="13542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 Tree Structure:</a:t>
            </a: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h1 (with id heading)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(Text: "This is a paragraph.")</a:t>
            </a:r>
          </a:p>
        </p:txBody>
      </p:sp>
    </p:spTree>
    <p:extLst>
      <p:ext uri="{BB962C8B-B14F-4D97-AF65-F5344CB8AC3E}">
        <p14:creationId xmlns:p14="http://schemas.microsoft.com/office/powerpoint/2010/main" val="163994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38E8704-CAC5-4D32-9B96-A2687AD8F10D}"/>
              </a:ext>
            </a:extLst>
          </p:cNvPr>
          <p:cNvSpPr/>
          <p:nvPr/>
        </p:nvSpPr>
        <p:spPr>
          <a:xfrm>
            <a:off x="458699" y="608114"/>
            <a:ext cx="30684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Parts of the Document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36E7939-AB96-46B9-8FF2-A309620553C1}"/>
              </a:ext>
            </a:extLst>
          </p:cNvPr>
          <p:cNvSpPr/>
          <p:nvPr/>
        </p:nvSpPr>
        <p:spPr>
          <a:xfrm>
            <a:off x="458699" y="1069779"/>
            <a:ext cx="678352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console.log(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document.title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 // Shows the page title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console.log(document.URL);    // Shows the page URL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console.log(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document.body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  // Shows the body element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console.log(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document.head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  // Shows the head element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console.log(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document.images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// Shows all images on the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console.log(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document.links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 // Shows all links on the page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13966F54-8D09-4F00-A990-E8F6FA1615E9}"/>
              </a:ext>
            </a:extLst>
          </p:cNvPr>
          <p:cNvSpPr/>
          <p:nvPr/>
        </p:nvSpPr>
        <p:spPr>
          <a:xfrm>
            <a:off x="458699" y="2888397"/>
            <a:ext cx="46618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Modify the Document in Real-Time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AA9A79B-459F-4BEE-9351-F1FF8092101F}"/>
              </a:ext>
            </a:extLst>
          </p:cNvPr>
          <p:cNvSpPr/>
          <p:nvPr/>
        </p:nvSpPr>
        <p:spPr>
          <a:xfrm>
            <a:off x="458699" y="3285770"/>
            <a:ext cx="84194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document.title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"Hello, Students!"; 	// Changes the title dynamically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document.body.style.backgroundColor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lightblue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"; 	// Changes background color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document.body.innerHTML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+= "&lt;h2&gt;Welcome to JavaScript DOM!&lt;/h2&gt;"; 	// Adds a heading</a:t>
            </a:r>
          </a:p>
        </p:txBody>
      </p:sp>
    </p:spTree>
    <p:extLst>
      <p:ext uri="{BB962C8B-B14F-4D97-AF65-F5344CB8AC3E}">
        <p14:creationId xmlns:p14="http://schemas.microsoft.com/office/powerpoint/2010/main" val="422173157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05191E6-34FD-48D5-B865-0D9C8B106D0A}"/>
              </a:ext>
            </a:extLst>
          </p:cNvPr>
          <p:cNvSpPr/>
          <p:nvPr/>
        </p:nvSpPr>
        <p:spPr>
          <a:xfrm>
            <a:off x="414338" y="662553"/>
            <a:ext cx="843676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Accessing DOM Elements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We can use JavaScript methods to access elements and manipulate them.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Retrieves an element by its id.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&lt;h1 id="heading"&gt;Hello, World!&lt;/h1&gt;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heading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("heading");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heading.innerText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		// Output: Hello, World!</a:t>
            </a:r>
          </a:p>
        </p:txBody>
      </p:sp>
    </p:spTree>
    <p:extLst>
      <p:ext uri="{BB962C8B-B14F-4D97-AF65-F5344CB8AC3E}">
        <p14:creationId xmlns:p14="http://schemas.microsoft.com/office/powerpoint/2010/main" val="42363718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0397CD2C-C595-4595-A205-EC0C82FEC25D}"/>
              </a:ext>
            </a:extLst>
          </p:cNvPr>
          <p:cNvSpPr/>
          <p:nvPr/>
        </p:nvSpPr>
        <p:spPr>
          <a:xfrm>
            <a:off x="464344" y="683985"/>
            <a:ext cx="8008144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document.getElementsByClassName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Retrieves elements by their class name (returns an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HTMLCollection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&lt;div class="box"&gt;Box 1&lt;/div&gt;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&lt;div class="box"&gt;Box 2&lt;/div&gt;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boxes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document.getElementsByClassName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("box");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console.log(boxes[1].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innerText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		// Output: Box 1</a:t>
            </a:r>
          </a:p>
        </p:txBody>
      </p:sp>
    </p:spTree>
    <p:extLst>
      <p:ext uri="{BB962C8B-B14F-4D97-AF65-F5344CB8AC3E}">
        <p14:creationId xmlns:p14="http://schemas.microsoft.com/office/powerpoint/2010/main" val="17882972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CFB9098-4D58-4BBC-88ED-3651613B9934}"/>
              </a:ext>
            </a:extLst>
          </p:cNvPr>
          <p:cNvSpPr/>
          <p:nvPr/>
        </p:nvSpPr>
        <p:spPr>
          <a:xfrm>
            <a:off x="503634" y="633978"/>
            <a:ext cx="8136731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document.getElementsByTagName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Retrieves all elements with the specified tag name.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&lt;p&gt;Paragraph 1&lt;/p&gt;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&lt;p&gt;Paragraph 2&lt;/p&gt;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paragraphs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document.getElementsByTagName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("p");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console.log(paragraphs[1].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innerText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	 	// Output: Paragraph 2</a:t>
            </a:r>
          </a:p>
        </p:txBody>
      </p:sp>
    </p:spTree>
    <p:extLst>
      <p:ext uri="{BB962C8B-B14F-4D97-AF65-F5344CB8AC3E}">
        <p14:creationId xmlns:p14="http://schemas.microsoft.com/office/powerpoint/2010/main" val="294945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7DF437D-6ED9-4696-ABEE-37DBC174601A}"/>
              </a:ext>
            </a:extLst>
          </p:cNvPr>
          <p:cNvSpPr/>
          <p:nvPr/>
        </p:nvSpPr>
        <p:spPr>
          <a:xfrm>
            <a:off x="478630" y="685681"/>
            <a:ext cx="7415213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querySelector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Selects the first element that matches the CSS selector.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&lt;h1 id="heading"&gt;Hello!&lt;/h1&gt;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heading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document.querySelector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("#heading");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heading.innerText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		// Output: Hello!</a:t>
            </a:r>
          </a:p>
        </p:txBody>
      </p:sp>
    </p:spTree>
    <p:extLst>
      <p:ext uri="{BB962C8B-B14F-4D97-AF65-F5344CB8AC3E}">
        <p14:creationId xmlns:p14="http://schemas.microsoft.com/office/powerpoint/2010/main" val="317737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86AED08D-1A3E-4CB9-A70A-9805E9B14371}"/>
              </a:ext>
            </a:extLst>
          </p:cNvPr>
          <p:cNvSpPr/>
          <p:nvPr/>
        </p:nvSpPr>
        <p:spPr>
          <a:xfrm>
            <a:off x="450056" y="698838"/>
            <a:ext cx="7436644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querySelectorAll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Selects all elements that match the CSS selector (returns a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NodeList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&lt;div class="box"&gt;Box 1&lt;/div&gt;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&lt;div class="box"&gt;Box 2&lt;/div&gt;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boxes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document.querySelectorAll</a:t>
            </a:r>
            <a:r>
              <a:rPr lang="en-US" sz="18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(“.box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	console.log(boxes[0].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innerHTML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851244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4323F514-0D9D-4039-BAF9-F4EB52509616}"/>
              </a:ext>
            </a:extLst>
          </p:cNvPr>
          <p:cNvSpPr/>
          <p:nvPr/>
        </p:nvSpPr>
        <p:spPr>
          <a:xfrm>
            <a:off x="500063" y="669697"/>
            <a:ext cx="8643936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Modifying the DOM</a:t>
            </a:r>
          </a:p>
          <a:p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 Text Content: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Using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innerText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innerHTML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we can change the text inside an element.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&lt;h1 id="heading"&gt;Original Text&lt;/h1&gt;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</a:t>
            </a: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heading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("heading");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heading.innerText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"Updated Text"; 		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 Changes text to "Updated Text"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028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5674678-F1EF-4F8C-B195-D7D79A987712}"/>
              </a:ext>
            </a:extLst>
          </p:cNvPr>
          <p:cNvSpPr/>
          <p:nvPr/>
        </p:nvSpPr>
        <p:spPr>
          <a:xfrm>
            <a:off x="464342" y="691694"/>
            <a:ext cx="852249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 Attributes: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Using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setAttribute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(), we can modify the attributes of an element.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id="image"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="old-image.jpg" &gt; 		// old car image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("image");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img.setAttribute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", "new-image.jpg"); 	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 Changes the image source</a:t>
            </a:r>
          </a:p>
        </p:txBody>
      </p:sp>
    </p:spTree>
    <p:extLst>
      <p:ext uri="{BB962C8B-B14F-4D97-AF65-F5344CB8AC3E}">
        <p14:creationId xmlns:p14="http://schemas.microsoft.com/office/powerpoint/2010/main" val="781536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0A2A3550-4095-4996-9E2D-2241552914C0}"/>
              </a:ext>
            </a:extLst>
          </p:cNvPr>
          <p:cNvSpPr/>
          <p:nvPr/>
        </p:nvSpPr>
        <p:spPr>
          <a:xfrm>
            <a:off x="464343" y="664250"/>
            <a:ext cx="744378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 Styles: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Using the style property, we can modify the element’s CSS.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heading.style.color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"blue"; 		// Changes text color to blue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heading.style.fontSize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"24px"; 	// Changes font size</a:t>
            </a:r>
          </a:p>
        </p:txBody>
      </p:sp>
    </p:spTree>
    <p:extLst>
      <p:ext uri="{BB962C8B-B14F-4D97-AF65-F5344CB8AC3E}">
        <p14:creationId xmlns:p14="http://schemas.microsoft.com/office/powerpoint/2010/main" val="978505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4502134F-15F9-4A75-B192-9D2D40FB3C65}"/>
              </a:ext>
            </a:extLst>
          </p:cNvPr>
          <p:cNvSpPr/>
          <p:nvPr/>
        </p:nvSpPr>
        <p:spPr>
          <a:xfrm>
            <a:off x="471486" y="655976"/>
            <a:ext cx="7715251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Home Task 5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Access elements using </a:t>
            </a:r>
            <a:r>
              <a:rPr lang="en-US" sz="1800" dirty="0" err="1"/>
              <a:t>getElementById</a:t>
            </a:r>
            <a:r>
              <a:rPr lang="en-US" sz="1800" dirty="0"/>
              <a:t>(), </a:t>
            </a:r>
            <a:r>
              <a:rPr lang="en-US" sz="1800" dirty="0" err="1"/>
              <a:t>getElementsByClassName</a:t>
            </a:r>
            <a:r>
              <a:rPr lang="en-US" sz="1800" dirty="0"/>
              <a:t>(), and </a:t>
            </a:r>
            <a:r>
              <a:rPr lang="en-US" sz="1800" dirty="0" err="1"/>
              <a:t>querySelector</a:t>
            </a:r>
            <a:r>
              <a:rPr lang="en-US" sz="1800" dirty="0"/>
              <a:t>().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Change the text content of a paragraph element.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Change the background color of a div when a button is clicked.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Add a border to an image on mouse hover.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Create a form with two inputs and a submit button. Display the entered values when the button is clicked.</a:t>
            </a:r>
          </a:p>
        </p:txBody>
      </p:sp>
    </p:spTree>
    <p:extLst>
      <p:ext uri="{BB962C8B-B14F-4D97-AF65-F5344CB8AC3E}">
        <p14:creationId xmlns:p14="http://schemas.microsoft.com/office/powerpoint/2010/main" val="263768347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B71B1BC-C243-4C7F-82D7-6A63E7EFE092}"/>
              </a:ext>
            </a:extLst>
          </p:cNvPr>
          <p:cNvSpPr/>
          <p:nvPr/>
        </p:nvSpPr>
        <p:spPr>
          <a:xfrm>
            <a:off x="1347490" y="1786920"/>
            <a:ext cx="64490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No: 06</a:t>
            </a:r>
          </a:p>
        </p:txBody>
      </p:sp>
    </p:spTree>
    <p:extLst>
      <p:ext uri="{BB962C8B-B14F-4D97-AF65-F5344CB8AC3E}">
        <p14:creationId xmlns:p14="http://schemas.microsoft.com/office/powerpoint/2010/main" val="317611516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5E2E674-828D-43BD-8D6F-63715D24E6DB}"/>
              </a:ext>
            </a:extLst>
          </p:cNvPr>
          <p:cNvSpPr/>
          <p:nvPr/>
        </p:nvSpPr>
        <p:spPr>
          <a:xfrm>
            <a:off x="440741" y="574775"/>
            <a:ext cx="54585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DOM Manipulation and Events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CB9CD371-3DBE-42EE-BA7A-6BB1FFAA0FD9}"/>
              </a:ext>
            </a:extLst>
          </p:cNvPr>
          <p:cNvSpPr/>
          <p:nvPr/>
        </p:nvSpPr>
        <p:spPr>
          <a:xfrm>
            <a:off x="635794" y="1036440"/>
            <a:ext cx="835818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Creating and Adding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createElement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(): Creates a new element in JavaScript.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appendChild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(): Adds the newly created element to an existing element in the DOM.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&lt;ul id="list"&gt;&lt;/ul&gt;</a:t>
            </a:r>
          </a:p>
          <a:p>
            <a:r>
              <a:rPr lang="en-US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</a:t>
            </a: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list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("list");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// Creating a new list item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newItem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document.createElement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("li");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newItem.innerText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"New Item";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// Appending the new item to the list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list.appendChild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newItem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07164554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46AA36EE-5190-41B9-974E-5CBA695B726E}"/>
              </a:ext>
            </a:extLst>
          </p:cNvPr>
          <p:cNvSpPr/>
          <p:nvPr/>
        </p:nvSpPr>
        <p:spPr>
          <a:xfrm>
            <a:off x="464343" y="583406"/>
            <a:ext cx="7122319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Removing and Replacing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removeChild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(): Removes a specified child element from its parent.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replaceChild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(): Replaces an existing child element with another.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1023970D-3E26-43D2-97D2-2FE75610755D}"/>
              </a:ext>
            </a:extLst>
          </p:cNvPr>
          <p:cNvSpPr/>
          <p:nvPr/>
        </p:nvSpPr>
        <p:spPr>
          <a:xfrm>
            <a:off x="464343" y="1709499"/>
            <a:ext cx="613648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&lt;ul id="list"&gt;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&lt;li id="item"&gt;Item 1&lt;/li&gt;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&lt;/ul&gt;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&lt;button id="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removeBtn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"&gt;Remove Item&lt;/button&gt;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&lt;button id="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replaceBtn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"&gt;Replace Item&lt;/button&gt;</a:t>
            </a:r>
          </a:p>
        </p:txBody>
      </p:sp>
    </p:spTree>
    <p:extLst>
      <p:ext uri="{BB962C8B-B14F-4D97-AF65-F5344CB8AC3E}">
        <p14:creationId xmlns:p14="http://schemas.microsoft.com/office/powerpoint/2010/main" val="45988998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6BB24B8A-0761-4E7F-BB22-0E89A870E6C0}"/>
              </a:ext>
            </a:extLst>
          </p:cNvPr>
          <p:cNvSpPr/>
          <p:nvPr/>
        </p:nvSpPr>
        <p:spPr>
          <a:xfrm>
            <a:off x="478632" y="561409"/>
            <a:ext cx="848677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list =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("list");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item =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("item");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removeBtn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removeBtn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");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replaceBtn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replaceBtn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");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removeBtn.addEventListener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("click", function () {		// Removing an Element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if (item) {     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list.removeChild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(item); 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}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});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replaceBtn.addEventListener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("click", function () {		// Replacing an Element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let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newItem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document.createElement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("li");   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newItem.innerText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"New Item";     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if (item) {  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list.replaceChild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newItem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item);   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}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42942439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15B7843F-985D-478A-B14C-18CAC4EF64B1}"/>
              </a:ext>
            </a:extLst>
          </p:cNvPr>
          <p:cNvSpPr/>
          <p:nvPr/>
        </p:nvSpPr>
        <p:spPr>
          <a:xfrm>
            <a:off x="457200" y="601087"/>
            <a:ext cx="83439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Adding Events Using </a:t>
            </a:r>
            <a:r>
              <a:rPr lang="en-US" sz="2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addEventListener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Events allow us to add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interactivity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our webpages. The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addEventListener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method listens for user interactions such as clicks, key presses, and mouse movements.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C56E732-0195-479B-A4FA-6E787551C953}"/>
              </a:ext>
            </a:extLst>
          </p:cNvPr>
          <p:cNvSpPr/>
          <p:nvPr/>
        </p:nvSpPr>
        <p:spPr>
          <a:xfrm>
            <a:off x="600075" y="1744653"/>
            <a:ext cx="782954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&lt;button id="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btn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"&gt;Click Me&lt;/button&gt;</a:t>
            </a:r>
          </a:p>
          <a:p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button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btn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");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// Adding a click event listener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button.addEventListener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("click", function ()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alert("Button was clicked!");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});</a:t>
            </a:r>
          </a:p>
        </p:txBody>
      </p:sp>
    </p:spTree>
    <p:extLst>
      <p:ext uri="{BB962C8B-B14F-4D97-AF65-F5344CB8AC3E}">
        <p14:creationId xmlns:p14="http://schemas.microsoft.com/office/powerpoint/2010/main" val="309870130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67A955E-2F34-4D87-83B8-F3829A9AF244}"/>
              </a:ext>
            </a:extLst>
          </p:cNvPr>
          <p:cNvSpPr/>
          <p:nvPr/>
        </p:nvSpPr>
        <p:spPr>
          <a:xfrm>
            <a:off x="471487" y="601653"/>
            <a:ext cx="818673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 Form Validation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Form validation ensures users enter valid data before submitting a form. JavaScript helps check if the required fields are filled correctly.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D987B300-7EE6-4468-B3D4-2F85121A6D13}"/>
              </a:ext>
            </a:extLst>
          </p:cNvPr>
          <p:cNvSpPr/>
          <p:nvPr/>
        </p:nvSpPr>
        <p:spPr>
          <a:xfrm>
            <a:off x="471486" y="1555760"/>
            <a:ext cx="725090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&lt;form id="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myForm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"&gt; 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&lt;label for="name"&gt;Name:&lt;/label&gt; 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&lt;input type="text" id="name" name="name" required&gt; 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&lt;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&lt;label for="email"&gt;Email:&lt;/label&gt;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&lt;input type="email" id="email" name="email" required&gt;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&lt;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&lt;button type="submit"&gt;Submit&lt;/button&gt;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&lt;/form&gt;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&lt;p id="error-message" style="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color:red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;"&gt;&lt;/p&gt;</a:t>
            </a:r>
          </a:p>
        </p:txBody>
      </p:sp>
    </p:spTree>
    <p:extLst>
      <p:ext uri="{BB962C8B-B14F-4D97-AF65-F5344CB8AC3E}">
        <p14:creationId xmlns:p14="http://schemas.microsoft.com/office/powerpoint/2010/main" val="406336962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C8F2440-FA31-4DEA-9D93-CE879E3F51E2}"/>
              </a:ext>
            </a:extLst>
          </p:cNvPr>
          <p:cNvSpPr/>
          <p:nvPr/>
        </p:nvSpPr>
        <p:spPr>
          <a:xfrm>
            <a:off x="435769" y="639991"/>
            <a:ext cx="630078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form =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myForm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");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errorMessage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("error-message");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 Adding submit event listener</a:t>
            </a:r>
          </a:p>
          <a:p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form.addEventListener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("submit", function (event) { 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let name =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("name").value; 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let email =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("email").value; 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if (name === "" || email === "") { 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errorMessage.innerText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"All fields are required!";             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event.preventDefault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 		// Prevent form submission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} else { 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alert("Form submitted successfully!");  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}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76296102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B5C99F7C-B952-4AB4-AF2C-6F1B55A84E93}"/>
              </a:ext>
            </a:extLst>
          </p:cNvPr>
          <p:cNvSpPr/>
          <p:nvPr/>
        </p:nvSpPr>
        <p:spPr>
          <a:xfrm>
            <a:off x="435069" y="648831"/>
            <a:ext cx="7751669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Activity-Based Task: Interactive To-Do List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Create an interactive to-do list that allows users to add tasks, mark them as completed, and delete tasks.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an input field and a button to add tasks.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each task in a list with a "Remove" button.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a task is clicked, mark it as completed (toggle the CSS class).</a:t>
            </a:r>
          </a:p>
          <a:p>
            <a:pPr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the "Remove" button is clicked, remove the task.</a:t>
            </a:r>
          </a:p>
        </p:txBody>
      </p:sp>
    </p:spTree>
    <p:extLst>
      <p:ext uri="{BB962C8B-B14F-4D97-AF65-F5344CB8AC3E}">
        <p14:creationId xmlns:p14="http://schemas.microsoft.com/office/powerpoint/2010/main" val="131809776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674AA80-C45D-4A72-8763-7CD9C59BEC16}"/>
              </a:ext>
            </a:extLst>
          </p:cNvPr>
          <p:cNvSpPr/>
          <p:nvPr/>
        </p:nvSpPr>
        <p:spPr>
          <a:xfrm>
            <a:off x="2457450" y="540424"/>
            <a:ext cx="4914900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taskList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("tasks");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input =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taskInput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");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addButton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addTask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");</a:t>
            </a:r>
          </a:p>
          <a:p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addButton.addEventListener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("click", function () {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let task =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document.createElement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("li");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task.innerText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input.value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task.addEventListener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("click", function () {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task.classList.toggle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("completed"); // Toggles "completed" class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});</a:t>
            </a:r>
          </a:p>
          <a:p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let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removeButton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document.createElement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("button");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removeButton.innerText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"Remove";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removeButton.addEventListener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("click", function () {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taskList.removeChild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(task);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});</a:t>
            </a:r>
          </a:p>
          <a:p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task.appendChild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removeButton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taskList.appendChild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(task);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input.value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"";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});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5957344-A9E2-479F-B646-45EDC7196527}"/>
              </a:ext>
            </a:extLst>
          </p:cNvPr>
          <p:cNvSpPr/>
          <p:nvPr/>
        </p:nvSpPr>
        <p:spPr>
          <a:xfrm>
            <a:off x="465813" y="603349"/>
            <a:ext cx="1598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Code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8382661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28FC96F-AA2D-4150-A5A4-F5095D48CF0C}"/>
              </a:ext>
            </a:extLst>
          </p:cNvPr>
          <p:cNvSpPr/>
          <p:nvPr/>
        </p:nvSpPr>
        <p:spPr>
          <a:xfrm>
            <a:off x="614362" y="685115"/>
            <a:ext cx="7729537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 Task 6</a:t>
            </a: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new elements to the DOM using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createElement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 an element from the DOM.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button that changes its color when clicked.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list where each item can be marked as completed.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form with input fields and validate that all fields are filled.</a:t>
            </a:r>
          </a:p>
        </p:txBody>
      </p:sp>
    </p:spTree>
    <p:extLst>
      <p:ext uri="{BB962C8B-B14F-4D97-AF65-F5344CB8AC3E}">
        <p14:creationId xmlns:p14="http://schemas.microsoft.com/office/powerpoint/2010/main" val="175379314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C9E4789-2746-4C25-88A0-4123A89D0DB3}"/>
              </a:ext>
            </a:extLst>
          </p:cNvPr>
          <p:cNvSpPr/>
          <p:nvPr/>
        </p:nvSpPr>
        <p:spPr>
          <a:xfrm>
            <a:off x="1347490" y="1786920"/>
            <a:ext cx="64490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No: 07</a:t>
            </a:r>
          </a:p>
        </p:txBody>
      </p:sp>
    </p:spTree>
    <p:extLst>
      <p:ext uri="{BB962C8B-B14F-4D97-AF65-F5344CB8AC3E}">
        <p14:creationId xmlns:p14="http://schemas.microsoft.com/office/powerpoint/2010/main" val="410725679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D5809F6-B4EA-43C7-8459-6E9829BD9674}"/>
              </a:ext>
            </a:extLst>
          </p:cNvPr>
          <p:cNvSpPr/>
          <p:nvPr/>
        </p:nvSpPr>
        <p:spPr>
          <a:xfrm>
            <a:off x="435768" y="597694"/>
            <a:ext cx="8429625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Events &amp; ES6 Features</a:t>
            </a:r>
          </a:p>
          <a:p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Events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JavaScript events allow interaction with users when they perform actions such as clicking, hovering, or pressing keys. Events make web pages dynamic and interactive.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JavaScript Events: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onclick - Triggers when an element is clicked.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onmouseover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Triggers when the mouse hovers over an element.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onkeydown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Triggers when a key is pressed.</a:t>
            </a:r>
          </a:p>
        </p:txBody>
      </p:sp>
    </p:spTree>
    <p:extLst>
      <p:ext uri="{BB962C8B-B14F-4D97-AF65-F5344CB8AC3E}">
        <p14:creationId xmlns:p14="http://schemas.microsoft.com/office/powerpoint/2010/main" val="251130314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6F33FC9-E170-4AE0-81FC-F2C559A6E042}"/>
              </a:ext>
            </a:extLst>
          </p:cNvPr>
          <p:cNvSpPr/>
          <p:nvPr/>
        </p:nvSpPr>
        <p:spPr>
          <a:xfrm>
            <a:off x="442912" y="2574966"/>
            <a:ext cx="711517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Using JavaScript Event Listener (Recommended):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&lt;button id="</a:t>
            </a:r>
            <a:r>
              <a:rPr lang="en-US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myButton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"&gt;Click Me&lt;/button&gt;</a:t>
            </a:r>
          </a:p>
          <a:p>
            <a:r>
              <a:rPr 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Js: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</a:p>
          <a:p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</a:t>
            </a:r>
            <a:r>
              <a:rPr lang="en-US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btn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</a:t>
            </a:r>
            <a:r>
              <a:rPr lang="en-US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myButton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");    	</a:t>
            </a:r>
            <a:r>
              <a:rPr lang="en-US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btn.addEventListener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("click", function() {        </a:t>
            </a:r>
          </a:p>
          <a:p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alert("Button Clicked!");    });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B495E01-BDFE-4865-B9BE-9F8AADF3D1E1}"/>
              </a:ext>
            </a:extLst>
          </p:cNvPr>
          <p:cNvSpPr/>
          <p:nvPr/>
        </p:nvSpPr>
        <p:spPr>
          <a:xfrm>
            <a:off x="442912" y="4329292"/>
            <a:ext cx="83653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method is preferred as it keeps the JavaScript code separate from HTML, making it easier to manage and maintain.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B494E88D-0AF4-4B13-8D46-87E2CF616D0D}"/>
              </a:ext>
            </a:extLst>
          </p:cNvPr>
          <p:cNvSpPr/>
          <p:nvPr/>
        </p:nvSpPr>
        <p:spPr>
          <a:xfrm>
            <a:off x="442913" y="552598"/>
            <a:ext cx="7308056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Events in JavaScript</a:t>
            </a:r>
          </a:p>
          <a:p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Using HTML Attribute (Not Recommended):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&lt;button onclick="alert('Button Clicked!')"&gt;Click Me&lt;/button&gt;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152EBD0-5B82-4275-A361-47E0AC81982E}"/>
              </a:ext>
            </a:extLst>
          </p:cNvPr>
          <p:cNvSpPr/>
          <p:nvPr/>
        </p:nvSpPr>
        <p:spPr>
          <a:xfrm>
            <a:off x="442912" y="1845259"/>
            <a:ext cx="76866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method is not recommended because it makes the HTML code less readable and harder to manage.</a:t>
            </a:r>
          </a:p>
        </p:txBody>
      </p:sp>
    </p:spTree>
    <p:extLst>
      <p:ext uri="{BB962C8B-B14F-4D97-AF65-F5344CB8AC3E}">
        <p14:creationId xmlns:p14="http://schemas.microsoft.com/office/powerpoint/2010/main" val="264251189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3141BB6-2DF7-48E8-ACEB-12A9C08F3954}"/>
              </a:ext>
            </a:extLst>
          </p:cNvPr>
          <p:cNvSpPr/>
          <p:nvPr/>
        </p:nvSpPr>
        <p:spPr>
          <a:xfrm>
            <a:off x="405743" y="521137"/>
            <a:ext cx="8738257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ES6 Features (Modern JavaScript)</a:t>
            </a:r>
          </a:p>
          <a:p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Let &amp; Const (Block-scoped variables):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allows reassignment.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 does not allow reassignment.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374A6F0-FBDF-4C67-A49F-141B5C2A3BB7}"/>
              </a:ext>
            </a:extLst>
          </p:cNvPr>
          <p:cNvSpPr/>
          <p:nvPr/>
        </p:nvSpPr>
        <p:spPr>
          <a:xfrm>
            <a:off x="405743" y="2183130"/>
            <a:ext cx="714110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x = 10;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 = 15; 		// Allowed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 y = 20;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 = 25; 		// Error! Cannot reassign a constant variable.</a:t>
            </a:r>
          </a:p>
        </p:txBody>
      </p:sp>
    </p:spTree>
    <p:extLst>
      <p:ext uri="{BB962C8B-B14F-4D97-AF65-F5344CB8AC3E}">
        <p14:creationId xmlns:p14="http://schemas.microsoft.com/office/powerpoint/2010/main" val="144228673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5774490-66F4-4DFC-A865-6ED63E590854}"/>
              </a:ext>
            </a:extLst>
          </p:cNvPr>
          <p:cNvSpPr/>
          <p:nvPr/>
        </p:nvSpPr>
        <p:spPr>
          <a:xfrm>
            <a:off x="478632" y="616505"/>
            <a:ext cx="84389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Template Literals (String Interpolation):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Allows embedding variables directly into strings using backticks (`).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BCDE9B6-2407-4F56-BF06-38275F6A66F8}"/>
              </a:ext>
            </a:extLst>
          </p:cNvPr>
          <p:cNvSpPr/>
          <p:nvPr/>
        </p:nvSpPr>
        <p:spPr>
          <a:xfrm>
            <a:off x="478632" y="1202858"/>
            <a:ext cx="6915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name = "John";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console.log(`Hello, ${name}!`); 	// Output: Hello, John!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6DB38A9-84FA-453C-AA8F-CDB60E6E00F8}"/>
              </a:ext>
            </a:extLst>
          </p:cNvPr>
          <p:cNvSpPr/>
          <p:nvPr/>
        </p:nvSpPr>
        <p:spPr>
          <a:xfrm>
            <a:off x="478632" y="1973818"/>
            <a:ext cx="58578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Spread &amp; Rest Operators: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Spread (...): Expands arrays or objects.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 (...): Collects multiple values into an array.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8491AD4C-A880-4D0E-AF85-73E1E1251BFE}"/>
              </a:ext>
            </a:extLst>
          </p:cNvPr>
          <p:cNvSpPr/>
          <p:nvPr/>
        </p:nvSpPr>
        <p:spPr>
          <a:xfrm>
            <a:off x="700088" y="2960222"/>
            <a:ext cx="58578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[1, 2, 3];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newArr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[...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4, 5];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console.log(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newArr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// Output: [1, 2, 3, 4, 5]</a:t>
            </a:r>
          </a:p>
        </p:txBody>
      </p:sp>
    </p:spTree>
    <p:extLst>
      <p:ext uri="{BB962C8B-B14F-4D97-AF65-F5344CB8AC3E}">
        <p14:creationId xmlns:p14="http://schemas.microsoft.com/office/powerpoint/2010/main" val="281877675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D455FDB-4474-4B29-80E4-316CA5186685}"/>
              </a:ext>
            </a:extLst>
          </p:cNvPr>
          <p:cNvSpPr/>
          <p:nvPr/>
        </p:nvSpPr>
        <p:spPr>
          <a:xfrm>
            <a:off x="416117" y="696218"/>
            <a:ext cx="41134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 Operator Example: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05AE624-30EA-4A85-9F74-EBC32661092A}"/>
              </a:ext>
            </a:extLst>
          </p:cNvPr>
          <p:cNvSpPr/>
          <p:nvPr/>
        </p:nvSpPr>
        <p:spPr>
          <a:xfrm>
            <a:off x="416116" y="1003995"/>
            <a:ext cx="84278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showNames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(...names) {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console.log(names);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showNames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("Alice", "Bob", "Charlie"); 		// Output: ["Alice", "Bob", "Charlie"]</a:t>
            </a:r>
          </a:p>
        </p:txBody>
      </p:sp>
    </p:spTree>
    <p:extLst>
      <p:ext uri="{BB962C8B-B14F-4D97-AF65-F5344CB8AC3E}">
        <p14:creationId xmlns:p14="http://schemas.microsoft.com/office/powerpoint/2010/main" val="66117079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9C57CD1B-C354-4CF7-9A01-A90091E4F3F1}"/>
              </a:ext>
            </a:extLst>
          </p:cNvPr>
          <p:cNvSpPr/>
          <p:nvPr/>
        </p:nvSpPr>
        <p:spPr>
          <a:xfrm>
            <a:off x="485775" y="659934"/>
            <a:ext cx="68508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-US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Destructuring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Assignment: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Extract values from arrays or objects easily.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2A2F6FAE-2450-42D3-A3A3-C3FF9739F725}"/>
              </a:ext>
            </a:extLst>
          </p:cNvPr>
          <p:cNvSpPr/>
          <p:nvPr/>
        </p:nvSpPr>
        <p:spPr>
          <a:xfrm>
            <a:off x="485774" y="1306265"/>
            <a:ext cx="729881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person = {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name: "Alice",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age: 25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};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{ name, age } = person;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console.log(name, age); 		// Output: Alice 25</a:t>
            </a:r>
          </a:p>
        </p:txBody>
      </p:sp>
    </p:spTree>
    <p:extLst>
      <p:ext uri="{BB962C8B-B14F-4D97-AF65-F5344CB8AC3E}">
        <p14:creationId xmlns:p14="http://schemas.microsoft.com/office/powerpoint/2010/main" val="238422641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D6793EE-AF9B-4A50-A3C1-6E0CBA762788}"/>
              </a:ext>
            </a:extLst>
          </p:cNvPr>
          <p:cNvSpPr/>
          <p:nvPr/>
        </p:nvSpPr>
        <p:spPr>
          <a:xfrm>
            <a:off x="491344" y="546200"/>
            <a:ext cx="52116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 &amp; JavaScript Example: Interactive Button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88FE68C-4A23-4A29-9CE6-CF5212E42DD2}"/>
              </a:ext>
            </a:extLst>
          </p:cNvPr>
          <p:cNvSpPr/>
          <p:nvPr/>
        </p:nvSpPr>
        <p:spPr>
          <a:xfrm>
            <a:off x="491344" y="946310"/>
            <a:ext cx="791527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&lt;body&gt;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    </a:t>
            </a:r>
            <a:r>
              <a:rPr lang="en-US" sz="1800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&lt;button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E5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sz="18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sz="1800" dirty="0" err="1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myButton</a:t>
            </a:r>
            <a:r>
              <a:rPr lang="en-US" sz="18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sz="1800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Me</a:t>
            </a:r>
            <a:r>
              <a:rPr lang="en-US" sz="1800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&lt;/button&gt;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    </a:t>
            </a:r>
            <a:r>
              <a:rPr lang="en-US" sz="1800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&lt;p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E5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sz="18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"message"</a:t>
            </a:r>
            <a:r>
              <a:rPr lang="en-US" sz="1800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&gt;&lt;/p&gt;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    </a:t>
            </a:r>
            <a:r>
              <a:rPr lang="en-US" sz="1800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&lt;script&gt;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        </a:t>
            </a:r>
            <a:r>
              <a:rPr lang="en-US" sz="18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btn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800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getElementById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myButton</a:t>
            </a:r>
            <a:r>
              <a:rPr lang="en-US" sz="1800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        </a:t>
            </a:r>
            <a:r>
              <a:rPr lang="en-US" sz="18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800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getElementById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"message"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        </a:t>
            </a:r>
            <a:r>
              <a:rPr lang="en-US" sz="1800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btn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800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addEventListener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"click"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            </a:t>
            </a:r>
            <a:r>
              <a:rPr lang="en-US" sz="1800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800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textContent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800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"Button was clicked!"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        });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    </a:t>
            </a:r>
            <a:r>
              <a:rPr lang="en-US" sz="1800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&lt;/script&gt;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&lt;/body&gt;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99720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88F4592-AA4F-4C4D-A046-142CF7A904AF}"/>
              </a:ext>
            </a:extLst>
          </p:cNvPr>
          <p:cNvSpPr/>
          <p:nvPr/>
        </p:nvSpPr>
        <p:spPr>
          <a:xfrm>
            <a:off x="457158" y="528042"/>
            <a:ext cx="24561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2: Display List of Names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BD2FFB1-EEA4-4FC9-92D5-C5FCAE1A4E73}"/>
              </a:ext>
            </a:extLst>
          </p:cNvPr>
          <p:cNvSpPr/>
          <p:nvPr/>
        </p:nvSpPr>
        <p:spPr>
          <a:xfrm>
            <a:off x="1128712" y="835819"/>
            <a:ext cx="801528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&lt;body&gt;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&lt;button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E5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 err="1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showNames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 Names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&lt;/button&gt;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&lt;ul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E5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 err="1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nameList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&gt;&lt;/ul&gt;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&lt;script&gt;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displayNames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(...</a:t>
            </a:r>
            <a:r>
              <a:rPr lang="en-US" dirty="0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{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getElementById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nameList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innerHTML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names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forEach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=&gt;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{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    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createElement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"li"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    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textContent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dirty="0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    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appendChild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});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}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getElementById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showNames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addEventListener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"click"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{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displayNames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"Alice"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"Bob"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"Charlie"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});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&lt;/script&gt;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&lt;/body&gt;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07666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A93983DA-79CC-4470-A632-71F40C78FC9A}"/>
              </a:ext>
            </a:extLst>
          </p:cNvPr>
          <p:cNvSpPr/>
          <p:nvPr/>
        </p:nvSpPr>
        <p:spPr>
          <a:xfrm>
            <a:off x="1347490" y="1786920"/>
            <a:ext cx="64490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No: 08</a:t>
            </a:r>
          </a:p>
        </p:txBody>
      </p:sp>
    </p:spTree>
    <p:extLst>
      <p:ext uri="{BB962C8B-B14F-4D97-AF65-F5344CB8AC3E}">
        <p14:creationId xmlns:p14="http://schemas.microsoft.com/office/powerpoint/2010/main" val="91538532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1746EECF-7B7D-40CD-AF72-CFCAA9DDF139}"/>
              </a:ext>
            </a:extLst>
          </p:cNvPr>
          <p:cNvSpPr/>
          <p:nvPr/>
        </p:nvSpPr>
        <p:spPr>
          <a:xfrm>
            <a:off x="435768" y="561409"/>
            <a:ext cx="8304372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Async/Await &amp; API Handling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Asynchronous 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is Single-Threaded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Imagine JavaScript as a chef in a small kitchen who can cook only one dish at a time (single-threaded).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 chef waits for water to boil before cutting vegetables, cooking will take forever!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Instead, the chef multitasks—they put water to boil, then start chopping, and later check the water</a:t>
            </a:r>
            <a:r>
              <a:rPr lang="en-US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how asynchronous JavaScript works! </a:t>
            </a:r>
          </a:p>
        </p:txBody>
      </p:sp>
    </p:spTree>
    <p:extLst>
      <p:ext uri="{BB962C8B-B14F-4D97-AF65-F5344CB8AC3E}">
        <p14:creationId xmlns:p14="http://schemas.microsoft.com/office/powerpoint/2010/main" val="374945391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084B40B-2082-4A39-AFD3-2695DB040DA1}"/>
              </a:ext>
            </a:extLst>
          </p:cNvPr>
          <p:cNvSpPr/>
          <p:nvPr/>
        </p:nvSpPr>
        <p:spPr>
          <a:xfrm>
            <a:off x="472440" y="566529"/>
            <a:ext cx="7962900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Do We Need Asynchronous JavaScript?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JavaScript executes one operation at a time, but some tasks take time, like: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Fetching data from a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Reading a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Waiting for a timer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If JavaScript waited for each task to finish, the whole program would freeze! Instead, it delegates long tasks and continues running other code.</a:t>
            </a:r>
          </a:p>
        </p:txBody>
      </p:sp>
    </p:spTree>
    <p:extLst>
      <p:ext uri="{BB962C8B-B14F-4D97-AF65-F5344CB8AC3E}">
        <p14:creationId xmlns:p14="http://schemas.microsoft.com/office/powerpoint/2010/main" val="191795708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6BCCD66-CFA5-4F28-A666-DF901C7730F7}"/>
              </a:ext>
            </a:extLst>
          </p:cNvPr>
          <p:cNvSpPr/>
          <p:nvPr/>
        </p:nvSpPr>
        <p:spPr>
          <a:xfrm>
            <a:off x="327660" y="1647765"/>
            <a:ext cx="8366760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do we need it?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JavaScript runs code line by line, but sometimes we need to wait for tasks like: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Fetching data from a server (API calls)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Reading a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Waiting for a timer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Earlier, we used callbacks (which led to "callback hell") or promises (.then()), but async/await makes it much cleaner!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7AD0439-3CC6-43A5-95CE-EC8B94FD08F2}"/>
              </a:ext>
            </a:extLst>
          </p:cNvPr>
          <p:cNvSpPr/>
          <p:nvPr/>
        </p:nvSpPr>
        <p:spPr>
          <a:xfrm>
            <a:off x="327660" y="693658"/>
            <a:ext cx="8229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Async/Await?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Async/Await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way to handle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asynchronous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code in JavaScript, making it easier to read and write.</a:t>
            </a:r>
          </a:p>
        </p:txBody>
      </p:sp>
    </p:spTree>
    <p:extLst>
      <p:ext uri="{BB962C8B-B14F-4D97-AF65-F5344CB8AC3E}">
        <p14:creationId xmlns:p14="http://schemas.microsoft.com/office/powerpoint/2010/main" val="395977172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B58C68E-82FF-41B2-B801-A8C5531719C4}"/>
              </a:ext>
            </a:extLst>
          </p:cNvPr>
          <p:cNvSpPr/>
          <p:nvPr/>
        </p:nvSpPr>
        <p:spPr>
          <a:xfrm>
            <a:off x="434340" y="749409"/>
            <a:ext cx="8412480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Breaking it down: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async keyword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When you add async before a function, it automatically returns a promise.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async function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getData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return "Hello, World!";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getData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().then(console.log); 		// Output: Hello, World!</a:t>
            </a:r>
          </a:p>
        </p:txBody>
      </p:sp>
    </p:spTree>
    <p:extLst>
      <p:ext uri="{BB962C8B-B14F-4D97-AF65-F5344CB8AC3E}">
        <p14:creationId xmlns:p14="http://schemas.microsoft.com/office/powerpoint/2010/main" val="333367220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9F83BEC8-34FE-4B04-AA6E-D50F3BC9F7A9}"/>
              </a:ext>
            </a:extLst>
          </p:cNvPr>
          <p:cNvSpPr/>
          <p:nvPr/>
        </p:nvSpPr>
        <p:spPr>
          <a:xfrm>
            <a:off x="533400" y="738664"/>
            <a:ext cx="830580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await keyword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await pauses the function until the promise is resolved.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must be used inside an async function.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async function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fetchData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let response = await fetch("https://api.example.com/data");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let data = await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response.json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console.log(data); 	// This runs **only after** the data is fetched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fetchData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90545810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A17E883-0AEC-4ED5-BE07-51F385EEE252}"/>
              </a:ext>
            </a:extLst>
          </p:cNvPr>
          <p:cNvSpPr/>
          <p:nvPr/>
        </p:nvSpPr>
        <p:spPr>
          <a:xfrm>
            <a:off x="480060" y="591473"/>
            <a:ext cx="677418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Without and With Async/Await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❌ Without Async/Await (Using .then())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fetch("https://api.example.com/data")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.then(response =&gt;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response.json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.then(data =&gt; console.log(data))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.catch(error =&gt; console.log(error));</a:t>
            </a:r>
          </a:p>
        </p:txBody>
      </p:sp>
    </p:spTree>
    <p:extLst>
      <p:ext uri="{BB962C8B-B14F-4D97-AF65-F5344CB8AC3E}">
        <p14:creationId xmlns:p14="http://schemas.microsoft.com/office/powerpoint/2010/main" val="39283209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462199E4-ECBC-42DD-8FA3-FB0FE3AA90DB}"/>
              </a:ext>
            </a:extLst>
          </p:cNvPr>
          <p:cNvSpPr/>
          <p:nvPr/>
        </p:nvSpPr>
        <p:spPr>
          <a:xfrm>
            <a:off x="464820" y="582097"/>
            <a:ext cx="79171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Async/Await (Cleaner &amp; Easier)</a:t>
            </a:r>
          </a:p>
          <a:p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async function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getData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try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   let response = await fetch("https://api.example.com/data");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	         let data = await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response.json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   console.log(data);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} catch (error)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   console.log(error);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}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getData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09042291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665DDD0-67EC-48F7-A6AB-77C4DE95D249}"/>
              </a:ext>
            </a:extLst>
          </p:cNvPr>
          <p:cNvSpPr/>
          <p:nvPr/>
        </p:nvSpPr>
        <p:spPr>
          <a:xfrm>
            <a:off x="464820" y="657969"/>
            <a:ext cx="8214360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 with APIs using Fetch &amp; Async/Await</a:t>
            </a: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an API?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An API (Application Programming Interface) allows different applications to communicate with each other.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weather app gets live weather updates from an API.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shopping app fetches product details from an API.</a:t>
            </a:r>
          </a:p>
        </p:txBody>
      </p:sp>
    </p:spTree>
    <p:extLst>
      <p:ext uri="{BB962C8B-B14F-4D97-AF65-F5344CB8AC3E}">
        <p14:creationId xmlns:p14="http://schemas.microsoft.com/office/powerpoint/2010/main" val="354638377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268CC5E-71E5-42F8-B497-9BA41AABE759}"/>
              </a:ext>
            </a:extLst>
          </p:cNvPr>
          <p:cNvSpPr/>
          <p:nvPr/>
        </p:nvSpPr>
        <p:spPr>
          <a:xfrm>
            <a:off x="457200" y="578554"/>
            <a:ext cx="752094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fetch?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JavaScript provides the fetch() function to get data from APIs.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sends a request to the API.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API sends back data (usually in JSON format).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then process and use the data in our program.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7A9E698C-3F20-4B1C-BF7E-1C3FAD8760B7}"/>
              </a:ext>
            </a:extLst>
          </p:cNvPr>
          <p:cNvSpPr/>
          <p:nvPr/>
        </p:nvSpPr>
        <p:spPr>
          <a:xfrm>
            <a:off x="457200" y="2386340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Fetching Data from an API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Fetching Random Users from an API</a:t>
            </a:r>
          </a:p>
        </p:txBody>
      </p:sp>
    </p:spTree>
    <p:extLst>
      <p:ext uri="{BB962C8B-B14F-4D97-AF65-F5344CB8AC3E}">
        <p14:creationId xmlns:p14="http://schemas.microsoft.com/office/powerpoint/2010/main" val="23628314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C7EA9B01-BA79-45BA-841E-07215448B81F}"/>
              </a:ext>
            </a:extLst>
          </p:cNvPr>
          <p:cNvSpPr/>
          <p:nvPr/>
        </p:nvSpPr>
        <p:spPr>
          <a:xfrm>
            <a:off x="434340" y="612904"/>
            <a:ext cx="851154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/>
              <a:t>async function </a:t>
            </a:r>
            <a:r>
              <a:rPr lang="en-US" sz="1500" dirty="0" err="1"/>
              <a:t>fetchUser</a:t>
            </a:r>
            <a:r>
              <a:rPr lang="en-US" sz="1500" dirty="0"/>
              <a:t>() {</a:t>
            </a:r>
          </a:p>
          <a:p>
            <a:r>
              <a:rPr lang="en-US" sz="1500" dirty="0"/>
              <a:t>            try {</a:t>
            </a:r>
          </a:p>
          <a:p>
            <a:r>
              <a:rPr lang="en-US" sz="1500" dirty="0"/>
              <a:t>                let response = await fetch("https://randomuser.me/</a:t>
            </a:r>
            <a:r>
              <a:rPr lang="en-US" sz="1500" dirty="0" err="1"/>
              <a:t>api</a:t>
            </a:r>
            <a:r>
              <a:rPr lang="en-US" sz="1500" dirty="0"/>
              <a:t>/"); // Fetch data from a public API</a:t>
            </a:r>
          </a:p>
          <a:p>
            <a:r>
              <a:rPr lang="en-US" sz="1500" dirty="0"/>
              <a:t/>
            </a:r>
            <a:br>
              <a:rPr lang="en-US" sz="1500" dirty="0"/>
            </a:br>
            <a:r>
              <a:rPr lang="en-US" sz="1500" dirty="0"/>
              <a:t>                let data = await </a:t>
            </a:r>
            <a:r>
              <a:rPr lang="en-US" sz="1500" dirty="0" err="1"/>
              <a:t>response.json</a:t>
            </a:r>
            <a:r>
              <a:rPr lang="en-US" sz="1500" dirty="0"/>
              <a:t>(); 		// Convert response to JSON format</a:t>
            </a:r>
          </a:p>
          <a:p>
            <a:r>
              <a:rPr lang="en-US" sz="1500" dirty="0"/>
              <a:t/>
            </a:r>
            <a:br>
              <a:rPr lang="en-US" sz="1500" dirty="0"/>
            </a:br>
            <a:r>
              <a:rPr lang="en-US" sz="1500" dirty="0"/>
              <a:t>                let user = </a:t>
            </a:r>
            <a:r>
              <a:rPr lang="en-US" sz="1500" dirty="0" err="1"/>
              <a:t>data.results</a:t>
            </a:r>
            <a:r>
              <a:rPr lang="en-US" sz="1500" dirty="0"/>
              <a:t>[0]; 		// Extract user details</a:t>
            </a:r>
          </a:p>
          <a:p>
            <a:r>
              <a:rPr lang="en-US" sz="1500" dirty="0"/>
              <a:t>                console.log("User Name:", </a:t>
            </a:r>
            <a:r>
              <a:rPr lang="en-US" sz="1500" dirty="0" err="1"/>
              <a:t>user.name.first</a:t>
            </a:r>
            <a:r>
              <a:rPr lang="en-US" sz="1500" dirty="0"/>
              <a:t>, </a:t>
            </a:r>
            <a:r>
              <a:rPr lang="en-US" sz="1500" dirty="0" err="1"/>
              <a:t>user.name.last</a:t>
            </a:r>
            <a:r>
              <a:rPr lang="en-US" sz="1500" dirty="0"/>
              <a:t>);</a:t>
            </a:r>
          </a:p>
          <a:p>
            <a:r>
              <a:rPr lang="en-US" sz="1500" dirty="0"/>
              <a:t>                console.log("Email:", </a:t>
            </a:r>
            <a:r>
              <a:rPr lang="en-US" sz="1500" dirty="0" err="1"/>
              <a:t>user.email</a:t>
            </a:r>
            <a:r>
              <a:rPr lang="en-US" sz="1500" dirty="0"/>
              <a:t>);</a:t>
            </a:r>
          </a:p>
          <a:p>
            <a:r>
              <a:rPr lang="en-US" sz="1500" dirty="0"/>
              <a:t>                console.log("Country:", </a:t>
            </a:r>
            <a:r>
              <a:rPr lang="en-US" sz="1500" dirty="0" err="1"/>
              <a:t>user.location.country</a:t>
            </a:r>
            <a:r>
              <a:rPr lang="en-US" sz="1500" dirty="0"/>
              <a:t>);</a:t>
            </a:r>
          </a:p>
          <a:p>
            <a:r>
              <a:rPr lang="en-US" sz="1500" dirty="0"/>
              <a:t>            } catch (error) {</a:t>
            </a:r>
          </a:p>
          <a:p>
            <a:r>
              <a:rPr lang="en-US" sz="1500" dirty="0"/>
              <a:t>                console.log("Error fetching data:", error);</a:t>
            </a:r>
          </a:p>
          <a:p>
            <a:r>
              <a:rPr lang="en-US" sz="1500" dirty="0"/>
              <a:t>            }</a:t>
            </a:r>
          </a:p>
          <a:p>
            <a:r>
              <a:rPr lang="en-US" sz="1500" dirty="0"/>
              <a:t>        }</a:t>
            </a:r>
          </a:p>
          <a:p>
            <a:r>
              <a:rPr lang="en-US" sz="1500" dirty="0"/>
              <a:t/>
            </a:r>
            <a:br>
              <a:rPr lang="en-US" sz="1500" dirty="0"/>
            </a:br>
            <a:r>
              <a:rPr lang="en-US" sz="1500" dirty="0"/>
              <a:t>        </a:t>
            </a:r>
            <a:r>
              <a:rPr lang="en-US" sz="1500" dirty="0" err="1"/>
              <a:t>fetchUser</a:t>
            </a:r>
            <a:r>
              <a:rPr lang="en-US" sz="1500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426131961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8574254-CEDF-4BB2-9CD0-A03D93D9ABC0}"/>
              </a:ext>
            </a:extLst>
          </p:cNvPr>
          <p:cNvSpPr/>
          <p:nvPr/>
        </p:nvSpPr>
        <p:spPr>
          <a:xfrm>
            <a:off x="464820" y="712351"/>
            <a:ext cx="771906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Breaking Down the Code: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fetch("https://randomuser.me/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/") → Sends a request to the API.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await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response.json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→ Converts the response into JSON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Extracts user data (e.g., name, email, country).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Handles errors using try...catch.</a:t>
            </a:r>
          </a:p>
        </p:txBody>
      </p:sp>
    </p:spTree>
    <p:extLst>
      <p:ext uri="{BB962C8B-B14F-4D97-AF65-F5344CB8AC3E}">
        <p14:creationId xmlns:p14="http://schemas.microsoft.com/office/powerpoint/2010/main" val="227044166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0C9E5AD-CD72-4E1D-A754-DA61B79A6C9F}"/>
              </a:ext>
            </a:extLst>
          </p:cNvPr>
          <p:cNvSpPr/>
          <p:nvPr/>
        </p:nvSpPr>
        <p:spPr>
          <a:xfrm>
            <a:off x="525780" y="575519"/>
            <a:ext cx="7642860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the API Response Looks (JSON Format)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When we call the API, it returns data like this: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JSON: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"results": [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    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        "name": { "first": "John", "last": "Doe" },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        "email": "johndoe@example.com",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        "location": { "country": "USA" }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    }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]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}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extract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name.first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name.last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email, and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location.country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this JSON.</a:t>
            </a:r>
          </a:p>
        </p:txBody>
      </p:sp>
    </p:spTree>
    <p:extLst>
      <p:ext uri="{BB962C8B-B14F-4D97-AF65-F5344CB8AC3E}">
        <p14:creationId xmlns:p14="http://schemas.microsoft.com/office/powerpoint/2010/main" val="325150182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676BD9A-8A3A-4798-A52B-FBED59DF67C1}"/>
              </a:ext>
            </a:extLst>
          </p:cNvPr>
          <p:cNvSpPr/>
          <p:nvPr/>
        </p:nvSpPr>
        <p:spPr>
          <a:xfrm>
            <a:off x="371475" y="559922"/>
            <a:ext cx="63507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Fetching API Data and Displaying in HTML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7DF37CBD-A2D5-407D-8798-68868457CB5D}"/>
              </a:ext>
            </a:extLst>
          </p:cNvPr>
          <p:cNvSpPr/>
          <p:nvPr/>
        </p:nvSpPr>
        <p:spPr>
          <a:xfrm>
            <a:off x="592931" y="929254"/>
            <a:ext cx="795813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&lt;body&gt;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&lt;button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E5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 err="1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fetchBtn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 User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&lt;/button&gt;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E5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 err="1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userData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&gt;&lt;/p&gt;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&lt;script&gt;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getElementById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fetchBtn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addEventListener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"click"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async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{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</a:t>
            </a:r>
            <a:r>
              <a:rPr lang="en-US" dirty="0">
                <a:solidFill>
                  <a:srgbClr val="AF00D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{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    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dirty="0">
                <a:solidFill>
                  <a:srgbClr val="AF00D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await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"https://jsonplaceholder.typicode.com/users/1"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    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dirty="0">
                <a:solidFill>
                  <a:srgbClr val="AF00D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await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    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getElementById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userData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textContent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`Name: 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${</a:t>
            </a:r>
            <a:r>
              <a:rPr lang="en-US" dirty="0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Email: 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${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</a:t>
            </a:r>
            <a:r>
              <a:rPr lang="en-US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`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} </a:t>
            </a:r>
            <a:r>
              <a:rPr lang="en-US" dirty="0">
                <a:solidFill>
                  <a:srgbClr val="AF00D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catch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{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    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getElementById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userData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r>
              <a:rPr lang="en-US" dirty="0" err="1">
                <a:solidFill>
                  <a:srgbClr val="001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textContent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"Failed to fetch data"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    }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    });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&lt;/script&gt;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rgbClr val="8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&lt;/body&gt;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24550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B70046F0-B37D-447A-965E-4EB3368889A6}"/>
              </a:ext>
            </a:extLst>
          </p:cNvPr>
          <p:cNvSpPr/>
          <p:nvPr/>
        </p:nvSpPr>
        <p:spPr>
          <a:xfrm>
            <a:off x="407096" y="731757"/>
            <a:ext cx="17011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Submission Notes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250BD60-088E-45F4-9E84-A5D87DC7E7CE}"/>
              </a:ext>
            </a:extLst>
          </p:cNvPr>
          <p:cNvSpPr/>
          <p:nvPr/>
        </p:nvSpPr>
        <p:spPr>
          <a:xfrm>
            <a:off x="485676" y="1065595"/>
            <a:ext cx="4886424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Capture Evidence: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 screenshots or record a short video for each task.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your evidence clearly shows the completed task.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770F3B4A-4629-4C18-ADAA-B2F699C82F52}"/>
              </a:ext>
            </a:extLst>
          </p:cNvPr>
          <p:cNvSpPr/>
          <p:nvPr/>
        </p:nvSpPr>
        <p:spPr>
          <a:xfrm>
            <a:off x="400749" y="1857418"/>
            <a:ext cx="597941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 Tasks: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 each task as a separate folder or file in your GitHub repository.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828E690E-992D-4F7C-8396-B8B2EF2C760A}"/>
              </a:ext>
            </a:extLst>
          </p:cNvPr>
          <p:cNvSpPr/>
          <p:nvPr/>
        </p:nvSpPr>
        <p:spPr>
          <a:xfrm>
            <a:off x="400749" y="2571750"/>
            <a:ext cx="7143051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 Post: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short post summarizing what you learned and how you completed the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 your key takeaways.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Mention the following account in your post: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b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Shahzad</a:t>
            </a:r>
            <a:r>
              <a:rPr lang="en-GB" sz="15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khan</a:t>
            </a:r>
            <a:endParaRPr lang="en-US" sz="1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20948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2EC73A5-44C7-46E8-AB3B-57119B14DE17}"/>
              </a:ext>
            </a:extLst>
          </p:cNvPr>
          <p:cNvSpPr/>
          <p:nvPr/>
        </p:nvSpPr>
        <p:spPr>
          <a:xfrm>
            <a:off x="1794637" y="1786920"/>
            <a:ext cx="555472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206165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7188</TotalTime>
  <Words>3221</Words>
  <Application>Microsoft Office PowerPoint</Application>
  <PresentationFormat>On-screen Show (16:9)</PresentationFormat>
  <Paragraphs>1058</Paragraphs>
  <Slides>112</Slides>
  <Notes>107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13" baseType="lpstr">
      <vt:lpstr>Adjacency</vt:lpstr>
      <vt:lpstr>JAVASCRIPT</vt:lpstr>
      <vt:lpstr>PowerPoint Presentation</vt:lpstr>
      <vt:lpstr>PowerPoint Presentation</vt:lpstr>
      <vt:lpstr>PowerPoint Presentation</vt:lpstr>
      <vt:lpstr>PowerPoint Presentation</vt:lpstr>
      <vt:lpstr>A simple difference between a library and a framework is: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Difference bwt Declaration / Initialization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More Conditions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continue and break keyword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shahzad</cp:lastModifiedBy>
  <cp:revision>290</cp:revision>
  <dcterms:modified xsi:type="dcterms:W3CDTF">2025-10-08T07:39:16Z</dcterms:modified>
</cp:coreProperties>
</file>